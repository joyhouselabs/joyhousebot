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c0ba38950b44b42" /><Relationship Type="http://schemas.openxmlformats.org/officeDocument/2006/relationships/extended-properties" Target="/docProps/app.xml" Id="R33061b82a77f4741" /><Relationship Type="http://schemas.openxmlformats.org/officeDocument/2006/relationships/officeDocument" Target="/ppt/presentation.xml" Id="R5599738c56c6471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39cafe1c6a5425b"/>
  </p:sldMasterIdLst>
  <p:notesMasterIdLst>
    <p:notesMasterId xmlns:r="http://schemas.openxmlformats.org/officeDocument/2006/relationships" r:id="R135189e039cb40ad"/>
  </p:notesMasterIdLst>
  <p:sldIdLst>
    <p:sldId xmlns:r="http://schemas.openxmlformats.org/officeDocument/2006/relationships" id="256" r:id="Rdf3ff07a506d47fb"/>
    <p:sldId xmlns:r="http://schemas.openxmlformats.org/officeDocument/2006/relationships" id="257" r:id="R813527cb29214897"/>
    <p:sldId xmlns:r="http://schemas.openxmlformats.org/officeDocument/2006/relationships" id="258" r:id="Rdb27cd6702574b3f"/>
    <p:sldId xmlns:r="http://schemas.openxmlformats.org/officeDocument/2006/relationships" id="259" r:id="R52addb37662046bc"/>
    <p:sldId xmlns:r="http://schemas.openxmlformats.org/officeDocument/2006/relationships" id="260" r:id="Re95d1963770c4c0e"/>
    <p:sldId xmlns:r="http://schemas.openxmlformats.org/officeDocument/2006/relationships" id="261" r:id="Re98cfe1130f24ea2"/>
    <p:sldId xmlns:r="http://schemas.openxmlformats.org/officeDocument/2006/relationships" id="262" r:id="R4f26645b6eb44938"/>
    <p:sldId xmlns:r="http://schemas.openxmlformats.org/officeDocument/2006/relationships" id="263" r:id="Rad9c3bd03db94246"/>
    <p:sldId xmlns:r="http://schemas.openxmlformats.org/officeDocument/2006/relationships" id="264" r:id="R86a492f766aa481f"/>
    <p:sldId xmlns:r="http://schemas.openxmlformats.org/officeDocument/2006/relationships" id="265" r:id="Ra7e7c5d284044fd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7e417f185cf4e26" /><Relationship Type="http://schemas.openxmlformats.org/officeDocument/2006/relationships/slideMaster" Target="/ppt/slideMasters/slideMaster1.xml" Id="R439cafe1c6a5425b" /><Relationship Type="http://schemas.openxmlformats.org/officeDocument/2006/relationships/notesMaster" Target="/ppt/notesMasters/notesMaster1.xml" Id="R135189e039cb40ad" /><Relationship Type="http://schemas.openxmlformats.org/officeDocument/2006/relationships/presProps" Target="/ppt/presProps.xml" Id="R9ab334064dfc48e6" /><Relationship Type="http://schemas.openxmlformats.org/officeDocument/2006/relationships/tableStyles" Target="/ppt/tableStyles.xml" Id="Rb0a4a1d2457e45bc" /><Relationship Type="http://schemas.openxmlformats.org/officeDocument/2006/relationships/slide" Target="/ppt/slides/slide1.xml" Id="Rdf3ff07a506d47fb" /><Relationship Type="http://schemas.openxmlformats.org/officeDocument/2006/relationships/slide" Target="/ppt/slides/slide2.xml" Id="R813527cb29214897" /><Relationship Type="http://schemas.openxmlformats.org/officeDocument/2006/relationships/slide" Target="/ppt/slides/slide3.xml" Id="Rdb27cd6702574b3f" /><Relationship Type="http://schemas.openxmlformats.org/officeDocument/2006/relationships/slide" Target="/ppt/slides/slide4.xml" Id="R52addb37662046bc" /><Relationship Type="http://schemas.openxmlformats.org/officeDocument/2006/relationships/slide" Target="/ppt/slides/slide5.xml" Id="Re95d1963770c4c0e" /><Relationship Type="http://schemas.openxmlformats.org/officeDocument/2006/relationships/slide" Target="/ppt/slides/slide6.xml" Id="Re98cfe1130f24ea2" /><Relationship Type="http://schemas.openxmlformats.org/officeDocument/2006/relationships/slide" Target="/ppt/slides/slide7.xml" Id="R4f26645b6eb44938" /><Relationship Type="http://schemas.openxmlformats.org/officeDocument/2006/relationships/slide" Target="/ppt/slides/slide8.xml" Id="Rad9c3bd03db94246" /><Relationship Type="http://schemas.openxmlformats.org/officeDocument/2006/relationships/slide" Target="/ppt/slides/slide9.xml" Id="R86a492f766aa481f" /><Relationship Type="http://schemas.openxmlformats.org/officeDocument/2006/relationships/slide" Target="/ppt/slides/slide10.xml" Id="Ra7e7c5d284044fd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066cbbd1319405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92e143ae48e4106" /><Relationship Type="http://schemas.openxmlformats.org/officeDocument/2006/relationships/notesMaster" Target="/ppt/notesMasters/notesMaster1.xml" Id="R412aba22eece416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23a3bcfdf8c4b5e" /><Relationship Type="http://schemas.openxmlformats.org/officeDocument/2006/relationships/notesMaster" Target="/ppt/notesMasters/notesMaster1.xml" Id="R1d736265179b49d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ff822dae1ef49df" /><Relationship Type="http://schemas.openxmlformats.org/officeDocument/2006/relationships/notesMaster" Target="/ppt/notesMasters/notesMaster1.xml" Id="R9eb2b87f4ddb41c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6680ba69dcd4641" /><Relationship Type="http://schemas.openxmlformats.org/officeDocument/2006/relationships/notesMaster" Target="/ppt/notesMasters/notesMaster1.xml" Id="R27b61e2698cd403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505a82d61df49df" /><Relationship Type="http://schemas.openxmlformats.org/officeDocument/2006/relationships/notesMaster" Target="/ppt/notesMasters/notesMaster1.xml" Id="R0e26dabd12ee46c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d1e520749814d51" /><Relationship Type="http://schemas.openxmlformats.org/officeDocument/2006/relationships/notesMaster" Target="/ppt/notesMasters/notesMaster1.xml" Id="R6897ee0f44ba4fe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7b589cbeb564ded" /><Relationship Type="http://schemas.openxmlformats.org/officeDocument/2006/relationships/notesMaster" Target="/ppt/notesMasters/notesMaster1.xml" Id="Rdba63c817c1c473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7ff3cdef8e644a7" /><Relationship Type="http://schemas.openxmlformats.org/officeDocument/2006/relationships/notesMaster" Target="/ppt/notesMasters/notesMaster1.xml" Id="R3c7527d2cd234ed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ea8657c2fd64850" /><Relationship Type="http://schemas.openxmlformats.org/officeDocument/2006/relationships/notesMaster" Target="/ppt/notesMasters/notesMaster1.xml" Id="R9af476e285cf403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7c0a2e1155a45f9" /><Relationship Type="http://schemas.openxmlformats.org/officeDocument/2006/relationships/notesMaster" Target="/ppt/notesMasters/notesMaster1.xml" Id="R03a4ad2e058f444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JoyhouseBot Runtime 的对外定位：为真实 Agent 工作提供持久执行、治理控制和成果证据。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/Users/joyhouse/workspace/joyhousebot/AGENTS.md</a:t>
            </a:r>
          </a:p>
          <a:p xmlns:a="http://schemas.openxmlformats.org/drawingml/2006/main">
            <a:r>
              <a:t>- User-supplied WeChat QR card: /var/folders/tq/d4dcfvg14h3bz1x9kh9v3syc0000gn/T/codex-clipboard-ipMkj0.png (2026-08-12)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开场先建立托付门槛：会调用工具，不等于可以承担真实责任。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/Users/joyhouse/workspace/joyhousebot/AGENTS.md sections 1 and 3</a:t>
            </a:r>
          </a:p>
          <a:p xmlns:a="http://schemas.openxmlformats.org/drawingml/2006/main">
            <a:r>
              <a:t>- Internal: /Users/joyhouse/workspace/joyhousebot/docs/ARCHITECTURE.md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JoyhouseBot 位于可替换智能与真实业务副作用之间，维护独立的执行治理链。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/Users/joyhouse/workspace/joyhousebot/AGENTS.md sections 1-3</a:t>
            </a:r>
          </a:p>
          <a:p xmlns:a="http://schemas.openxmlformats.org/drawingml/2006/main">
            <a:r>
              <a:t>- Internal: /Users/joyhouse/workspace/joyhousebot/docs/CORE_AND_EXTENSIONS.md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HTTP、定时任务、渠道入站、多 Agent DAG 与 MCP 调用必须进入同一 Run/Task/Event/Trace 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/Users/joyhouse/workspace/joyhousebot/AGENTS.md section 3</a:t>
            </a:r>
          </a:p>
          <a:p xmlns:a="http://schemas.openxmlformats.org/drawingml/2006/main">
            <a:r>
              <a:t>- Internal: /Users/joyhouse/workspace/joyhousebot/docs/ARCHITECTURE.md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三项优势共同定义可托付性：持续、受控、可验证。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/Users/joyhouse/workspace/joyhousebot/AGENTS.md sections 1 and 3</a:t>
            </a:r>
          </a:p>
          <a:p xmlns:a="http://schemas.openxmlformats.org/drawingml/2006/main">
            <a:r>
              <a:t>- Internal: /Users/joyhouse/workspace/joyhousebot/docs/ARCHITECTURE.md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模型、Agent 与工具可以替换；Run 状态、授权边界、审计证据与恢复语义必须保持稳定。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/Users/joyhouse/workspace/joyhousebot/AGENTS.md sections 1-3</a:t>
            </a:r>
          </a:p>
          <a:p xmlns:a="http://schemas.openxmlformats.org/drawingml/2006/main">
            <a:r>
              <a:t>- Internal: /Users/joyhouse/workspace/joyhousebot/docs/CORE_AND_EXTENSIONS.md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PostgreSQL 是唯一运行时事实源；API 只负责认证、提交和查询，模型与工具在 Worker 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/Users/joyhouse/workspace/joyhousebot/AGENTS.md sections 2-4</a:t>
            </a:r>
          </a:p>
          <a:p xmlns:a="http://schemas.openxmlformats.org/drawingml/2006/main">
            <a:r>
              <a:t>- Internal: /Users/joyhouse/workspace/joyhousebot/docs/ARCHITECTURE.md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比较页按各产品官方定位描述其主要对象和边界；JoyhouseBot 的差异来自独立控制面、Agent-native 治理语义与用户最终权限。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LangGraph official overview: https://docs.langchain.com/oss/python/langgraph/overview</a:t>
            </a:r>
          </a:p>
          <a:p xmlns:a="http://schemas.openxmlformats.org/drawingml/2006/main">
            <a:r>
              <a:t>- Dify official application guide: https://docs.dify.ai/en/guides/application-orchestrate/creating-an-application</a:t>
            </a:r>
          </a:p>
          <a:p xmlns:a="http://schemas.openxmlformats.org/drawingml/2006/main">
            <a:r>
              <a:t>- Coze official overview: https://www.coze.cn/overview</a:t>
            </a:r>
          </a:p>
          <a:p xmlns:a="http://schemas.openxmlformats.org/drawingml/2006/main">
            <a:r>
              <a:t>- n8n official executions docs: https://docs.n8n.io/workflows/executions/all-executions/</a:t>
            </a:r>
          </a:p>
          <a:p xmlns:a="http://schemas.openxmlformats.org/drawingml/2006/main">
            <a:r>
              <a:t>- Temporal official docs: https://docs.temporal.io/</a:t>
            </a:r>
          </a:p>
          <a:p xmlns:a="http://schemas.openxmlformats.org/drawingml/2006/main">
            <a:r>
              <a:t>- Internal: /Users/joyhouse/workspace/joyhousebot/AGENTS.md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当前展示的是已存在的 JoyhouseBot Runtime 控制面，不是未来概念图。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/Users/joyhouse/workspace/joyhousebot/README.md</a:t>
            </a:r>
          </a:p>
          <a:p xmlns:a="http://schemas.openxmlformats.org/drawingml/2006/main">
            <a:r>
              <a:t>- Internal: /Users/joyhouse/workspace/joyhousebot/AGENTS.md</a:t>
            </a:r>
          </a:p>
          <a:p xmlns:a="http://schemas.openxmlformats.org/drawingml/2006/main">
            <a:r>
              <a:t>- Runtime overview screenshot: /Users/joyhouse/workspace/joyhousebot/docs/pictures/ScreenShot_2026-08-05_230508_778.png</a:t>
            </a:r>
          </a:p>
          <a:p xmlns:a="http://schemas.openxmlformats.org/drawingml/2006/main">
            <a:r>
              <a:t>- Inherited runtime replay screenshot: /Users/joyhouse/workspace/joyhousebot/JoyHouse-OPC-Investor-Deck-v3.pptx slide 13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收束到可信托付，而不是模型能力竞赛。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/Users/joyhouse/workspace/joyhousebot/AGENTS.md</a:t>
            </a:r>
          </a:p>
          <a:p xmlns:a="http://schemas.openxmlformats.org/drawingml/2006/main">
            <a:r>
              <a:t>- Inherited visual asset: /Users/joyhouse/workspace/joyhousebot/JoyHouse-OPC-Investor-Deck-v3.pptx slide 14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2640158abc459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db6d1e2cbb14e8a" /><Relationship Type="http://schemas.openxmlformats.org/officeDocument/2006/relationships/slideLayout" Target="/ppt/slideLayouts/slideLayout1.xml" Id="Rc267ec4ef2b9468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267ec4ef2b9468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a146c8db6648cb" /><Relationship Type="http://schemas.openxmlformats.org/officeDocument/2006/relationships/image" Target="/ppt/media/image.png" Id="Rcfe55986393d4c43" /><Relationship Type="http://schemas.openxmlformats.org/officeDocument/2006/relationships/notesSlide" Target="/ppt/notesSlides/notesSlide1.xml" Id="R16a197e66ac442f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cecccf31564eb4" /><Relationship Type="http://schemas.openxmlformats.org/officeDocument/2006/relationships/notesSlide" Target="/ppt/notesSlides/notesSlide2.xml" Id="R3efbcf383967420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0d7ca1e5d74a7b" /><Relationship Type="http://schemas.openxmlformats.org/officeDocument/2006/relationships/image" Target="/ppt/media/image2.png" Id="Ra81548ce88674475" /><Relationship Type="http://schemas.openxmlformats.org/officeDocument/2006/relationships/notesSlide" Target="/ppt/notesSlides/notesSlide3.xml" Id="Rfc48ddf26676421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c05acd3cb447d7" /><Relationship Type="http://schemas.openxmlformats.org/officeDocument/2006/relationships/notesSlide" Target="/ppt/notesSlides/notesSlide4.xml" Id="Rc107ca3f35e7444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d2a2f4f3184f8c" /><Relationship Type="http://schemas.openxmlformats.org/officeDocument/2006/relationships/notesSlide" Target="/ppt/notesSlides/notesSlide5.xml" Id="R6c6b6b3108f8452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cebf65c03b4be0" /><Relationship Type="http://schemas.openxmlformats.org/officeDocument/2006/relationships/notesSlide" Target="/ppt/notesSlides/notesSlide6.xml" Id="R31fd9d6edabc4bf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12cab3e8634ae6" /><Relationship Type="http://schemas.openxmlformats.org/officeDocument/2006/relationships/notesSlide" Target="/ppt/notesSlides/notesSlide7.xml" Id="R659ad00f2cdd43a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b6848b91d14b59" /><Relationship Type="http://schemas.openxmlformats.org/officeDocument/2006/relationships/notesSlide" Target="/ppt/notesSlides/notesSlide8.xml" Id="Rde62fa7def3e4d6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3f3d727e1e4085" /><Relationship Type="http://schemas.openxmlformats.org/officeDocument/2006/relationships/image" Target="/ppt/media/image3.png" Id="R31b0fd4838114186" /><Relationship Type="http://schemas.openxmlformats.org/officeDocument/2006/relationships/image" Target="/ppt/media/image4.png" Id="R8d2b6cfeead14a33" /><Relationship Type="http://schemas.openxmlformats.org/officeDocument/2006/relationships/notesSlide" Target="/ppt/notesSlides/notesSlide9.xml" Id="Rd13fcade3b0c4d5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965b03ef9945c7" /><Relationship Type="http://schemas.openxmlformats.org/officeDocument/2006/relationships/image" Target="/ppt/media/image5.png" Id="Ra7776626fb644ae2" /><Relationship Type="http://schemas.openxmlformats.org/officeDocument/2006/relationships/notesSlide" Target="/ppt/notesSlides/notesSlide10.xml" Id="Rfb693095bb944b5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brand">
            <a:extLst xmlns:a="http://schemas.openxmlformats.org/drawingml/2006/main">
              <a:ext uri="{FF2B5EF4-FFF2-40B4-BE49-F238E27FC236}">
                <a16:creationId xmlns:a16="http://schemas.microsoft.com/office/drawing/2014/main" id="{73B92A4B-901F-4447-9FEE-5C4D4953C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657F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6657F7"/>
                </a:solidFill>
                <a:latin typeface="PingFang SC"/>
                <a:ea typeface="PingFang SC"/>
                <a:cs typeface="PingFang SC"/>
              </a:rPr>
              <a:t>JOYHOUSEBOT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371DB753-3ECB-4702-AF83-A7ADC5E2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28800"/>
            <a:ext cx="8572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buNone/>
              <a:defRPr sz="51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1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JoyhouseBot Runtime</a:t>
            </a:r>
          </a:p>
          <a:p xmlns:a="http://schemas.openxmlformats.org/drawingml/2006/main">
            <a:pPr algn="l">
              <a:buNone/>
              <a:defRPr sz="51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1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Agent 的执行治理基础设施</a:t>
            </a:r>
          </a:p>
        </p:txBody>
      </p:sp>
      <p:sp>
        <p:nvSpPr>
          <p:cNvPr id="3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5DE990D1-2425-4C63-806B-19ED6AD15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76750"/>
            <a:ext cx="1809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A48DCA4F-6D56-48CC-B292-6C462760D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38700"/>
            <a:ext cx="752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让 Agent 长期、可靠、可恢复、可审计地完成真实工作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CEA28F1A-9FF5-423C-BC57-8278FF690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531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CA3A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9CA3AF"/>
                </a:solidFill>
                <a:latin typeface="PingFang SC"/>
                <a:ea typeface="PingFang SC"/>
                <a:cs typeface="PingFang SC"/>
              </a:rPr>
              <a:t>开源 Agent Infrastructure · 2026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e55986393d4c43"/>
          <a:stretch xmlns:a="http://schemas.openxmlformats.org/drawingml/2006/main"/>
        </p:blipFill>
        <p:spPr>
          <a:xfrm xmlns:a="http://schemas.openxmlformats.org/drawingml/2006/main">
            <a:off x="9429750" y="1737321"/>
            <a:ext cx="2095500" cy="311665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5993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ection">
            <a:extLst xmlns:a="http://schemas.openxmlformats.org/drawingml/2006/main">
              <a:ext uri="{FF2B5EF4-FFF2-40B4-BE49-F238E27FC236}">
                <a16:creationId xmlns:a16="http://schemas.microsoft.com/office/drawing/2014/main" id="{D34303DE-BFE4-4AA9-B129-211EC4268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9CA3A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CA3AF"/>
                </a:solidFill>
                <a:latin typeface="PingFang SC"/>
                <a:ea typeface="PingFang SC"/>
                <a:cs typeface="PingFang SC"/>
              </a:rPr>
              <a:t>PROBLEM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07F32CF-BCBA-44CB-98BF-168B3808A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191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Agent 已经会执行，但真实工作仍然难以托付</a:t>
            </a:r>
          </a:p>
        </p:txBody>
      </p:sp>
      <p:sp>
        <p:nvSpPr>
          <p:cNvPr id="3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7E2B6CF1-CA75-43FC-A4C1-C567E6C7F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9CA3AF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9CA3AF"/>
                </a:solidFill>
                <a:latin typeface="PingFang SC"/>
                <a:ea typeface="PingFang SC"/>
                <a:cs typeface="PingFang SC"/>
              </a:rPr>
              <a:t>JOYHOUSEBOT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A35BE622-88E8-4E7C-9780-B95876366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9CA3AF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9CA3A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AEF413B8-3D16-4C39-BA21-6718D187D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95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657F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6657F7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76B4160F-2322-4FDB-ADB3-48019C689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527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执行状态易丢</a:t>
            </a:r>
          </a:p>
        </p:txBody>
      </p:sp>
      <p:cxnSp>
        <p:nvCxnSpPr>
          <p:cNvPr id="144" name="line-7"/>
          <p:cNvCxnSpPr/>
          <p:nvPr/>
        </p:nvCxnSpPr>
        <p:spPr>
          <a:xfrm xmlns:a="http://schemas.openxmlformats.org/drawingml/2006/main">
            <a:off x="400050" y="3286125"/>
            <a:ext cx="3143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1D5DB"/>
            </a:solidFill>
            <a:prstDash val="solid"/>
          </a:ln>
        </p:spPr>
      </p:cxn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CD10FC9A-33F4-4D02-9A0A-22EE60F93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81400"/>
            <a:ext cx="3143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Worker 重启或工具失败后，</a:t>
            </a:r>
            <a:br>
              <a:rPr sz="150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</a:br>
            <a:r>
              <a:rPr sz="150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任务难以从正确位置</a:t>
            </a:r>
            <a:br>
              <a:rPr sz="150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</a:br>
            <a:r>
              <a:rPr sz="150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继续推进。</a:t>
            </a:r>
          </a:p>
        </p:txBody>
      </p:sp>
      <p:sp>
        <p:nvSpPr>
          <p:cNvPr id="9" name="text-9">
            <a:extLst xmlns:a="http://schemas.openxmlformats.org/drawingml/2006/main">
              <a:ext uri="{FF2B5EF4-FFF2-40B4-BE49-F238E27FC236}">
                <a16:creationId xmlns:a16="http://schemas.microsoft.com/office/drawing/2014/main" id="{210EF7E2-AF8B-4198-BDA9-0B9BA8872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952625"/>
            <a:ext cx="95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657F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6657F7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text-10">
            <a:extLst xmlns:a="http://schemas.openxmlformats.org/drawingml/2006/main">
              <a:ext uri="{FF2B5EF4-FFF2-40B4-BE49-F238E27FC236}">
                <a16:creationId xmlns:a16="http://schemas.microsoft.com/office/drawing/2014/main" id="{65340CA9-F8AB-41E4-8C80-2570B587B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5527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副作用难控制</a:t>
            </a:r>
          </a:p>
        </p:txBody>
      </p:sp>
      <p:cxnSp>
        <p:nvCxnSpPr>
          <p:cNvPr id="148" name="line-11"/>
          <p:cNvCxnSpPr/>
          <p:nvPr/>
        </p:nvCxnSpPr>
        <p:spPr>
          <a:xfrm xmlns:a="http://schemas.openxmlformats.org/drawingml/2006/main">
            <a:off x="4305300" y="3286125"/>
            <a:ext cx="3143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657F7"/>
            </a:solidFill>
            <a:prstDash val="solid"/>
          </a:ln>
        </p:spPr>
      </p:cxnSp>
      <p:sp>
        <p:nvSpPr>
          <p:cNvPr id="12" name="text-12">
            <a:extLst xmlns:a="http://schemas.openxmlformats.org/drawingml/2006/main">
              <a:ext uri="{FF2B5EF4-FFF2-40B4-BE49-F238E27FC236}">
                <a16:creationId xmlns:a16="http://schemas.microsoft.com/office/drawing/2014/main" id="{00F5B0FD-EFD5-4141-9C7A-06A6C0AC2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581400"/>
            <a:ext cx="3143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外发、支付与业务写入需要</a:t>
            </a:r>
            <a:br>
              <a:rPr sz="150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</a:br>
            <a:r>
              <a:rPr sz="150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权限、审批与</a:t>
            </a:r>
            <a:br>
              <a:rPr sz="150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</a:br>
            <a:r>
              <a:rPr sz="150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幂等约束。</a:t>
            </a:r>
          </a:p>
        </p:txBody>
      </p:sp>
      <p:sp>
        <p:nvSpPr>
          <p:cNvPr id="13" name="text-13">
            <a:extLst xmlns:a="http://schemas.openxmlformats.org/drawingml/2006/main">
              <a:ext uri="{FF2B5EF4-FFF2-40B4-BE49-F238E27FC236}">
                <a16:creationId xmlns:a16="http://schemas.microsoft.com/office/drawing/2014/main" id="{E2E1E71E-01B2-4068-A976-1FA8B72AE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52625"/>
            <a:ext cx="95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657F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6657F7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4" name="text-14">
            <a:extLst xmlns:a="http://schemas.openxmlformats.org/drawingml/2006/main">
              <a:ext uri="{FF2B5EF4-FFF2-40B4-BE49-F238E27FC236}">
                <a16:creationId xmlns:a16="http://schemas.microsoft.com/office/drawing/2014/main" id="{DF075444-20E7-45E3-BF7A-D51791D44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527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结果无法验证</a:t>
            </a:r>
          </a:p>
        </p:txBody>
      </p:sp>
      <p:cxnSp>
        <p:nvCxnSpPr>
          <p:cNvPr id="152" name="line-15"/>
          <p:cNvCxnSpPr/>
          <p:nvPr/>
        </p:nvCxnSpPr>
        <p:spPr>
          <a:xfrm xmlns:a="http://schemas.openxmlformats.org/drawingml/2006/main">
            <a:off x="8210550" y="3286125"/>
            <a:ext cx="3143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1D5DB"/>
            </a:solidFill>
            <a:prstDash val="solid"/>
          </a:ln>
        </p:spPr>
      </p:cxnSp>
      <p:sp>
        <p:nvSpPr>
          <p:cNvPr id="16" name="text-16">
            <a:extLst xmlns:a="http://schemas.openxmlformats.org/drawingml/2006/main">
              <a:ext uri="{FF2B5EF4-FFF2-40B4-BE49-F238E27FC236}">
                <a16:creationId xmlns:a16="http://schemas.microsoft.com/office/drawing/2014/main" id="{8439B917-CDCC-441A-99DE-9210E1556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581400"/>
            <a:ext cx="3143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回答不等于完成；行动、</a:t>
            </a:r>
            <a:br>
              <a:rPr sz="150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</a:br>
            <a:r>
              <a:rPr sz="150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证据与产物必须</a:t>
            </a:r>
            <a:br>
              <a:rPr sz="150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</a:br>
            <a:r>
              <a:rPr sz="150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能够追溯。</a:t>
            </a:r>
          </a:p>
        </p:txBody>
      </p:sp>
      <p:sp>
        <p:nvSpPr>
          <p:cNvPr id="17" name="text-17">
            <a:extLst xmlns:a="http://schemas.openxmlformats.org/drawingml/2006/main">
              <a:ext uri="{FF2B5EF4-FFF2-40B4-BE49-F238E27FC236}">
                <a16:creationId xmlns:a16="http://schemas.microsoft.com/office/drawing/2014/main" id="{9A205323-92E6-450E-80CD-0373B0017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6735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真正缺少的不是更强的提示词，而是让 Agent 可以承担真实责任的执行治理系统。</a:t>
            </a:r>
          </a:p>
        </p:txBody>
      </p:sp>
    </p:spTree>
    <p:extLst>
      <p:ext uri="{BB962C8B-B14F-4D97-AF65-F5344CB8AC3E}">
        <p14:creationId xmlns:p14="http://schemas.microsoft.com/office/powerpoint/2010/main" val="11626624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ection">
            <a:extLst xmlns:a="http://schemas.openxmlformats.org/drawingml/2006/main">
              <a:ext uri="{FF2B5EF4-FFF2-40B4-BE49-F238E27FC236}">
                <a16:creationId xmlns:a16="http://schemas.microsoft.com/office/drawing/2014/main" id="{E00CFBCF-18FC-441C-AA64-BD691DA73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9CA3A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CA3AF"/>
                </a:solidFill>
                <a:latin typeface="PingFang SC"/>
                <a:ea typeface="PingFang SC"/>
                <a:cs typeface="PingFang SC"/>
              </a:rPr>
              <a:t>POSITIONING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E17DB19-3268-41A4-87C7-18AA929B9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191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JoyhouseBot 补上模型与业务系统之间的执行治理层</a:t>
            </a:r>
          </a:p>
        </p:txBody>
      </p:sp>
      <p:sp>
        <p:nvSpPr>
          <p:cNvPr id="3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67127CEF-139D-4735-AFE5-EE19CC90E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9CA3AF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9CA3AF"/>
                </a:solidFill>
                <a:latin typeface="PingFang SC"/>
                <a:ea typeface="PingFang SC"/>
                <a:cs typeface="PingFang SC"/>
              </a:rPr>
              <a:t>JOYHOUSEBOT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2674690A-94A3-4050-AC96-FCB8437EE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9CA3AF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9CA3A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B633B74F-8C76-4710-9805-372147D2C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657F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6657F7"/>
                </a:solidFill>
                <a:latin typeface="PingFang SC"/>
                <a:ea typeface="PingFang SC"/>
                <a:cs typeface="PingFang SC"/>
              </a:rPr>
              <a:t>AGENT-NATIVE · DURABLE EXECUTION · USER CONTROL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F0633FC0-6FFD-4969-95AB-263E7BF77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24075"/>
            <a:ext cx="121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持久执行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5562CFC7-7382-4B16-8815-3626DBD07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143125"/>
            <a:ext cx="390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Run、Task、Event、Trace 跨进程持久化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AA1C1C8C-955C-4453-A2C1-062C84EFF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90850"/>
            <a:ext cx="121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6657F7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6657F7"/>
                </a:solidFill>
                <a:latin typeface="PingFang SC"/>
                <a:ea typeface="PingFang SC"/>
                <a:cs typeface="PingFang SC"/>
              </a:rPr>
              <a:t>治理控制</a:t>
            </a:r>
          </a:p>
        </p:txBody>
      </p:sp>
      <p:sp>
        <p:nvSpPr>
          <p:cNvPr id="9" name="text-9">
            <a:extLst xmlns:a="http://schemas.openxmlformats.org/drawingml/2006/main">
              <a:ext uri="{FF2B5EF4-FFF2-40B4-BE49-F238E27FC236}">
                <a16:creationId xmlns:a16="http://schemas.microsoft.com/office/drawing/2014/main" id="{77B43DB5-DA12-45F7-99E1-DB634B601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009900"/>
            <a:ext cx="390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Capability 准入、权限、配额、审批与幂等</a:t>
            </a:r>
          </a:p>
        </p:txBody>
      </p:sp>
      <p:sp>
        <p:nvSpPr>
          <p:cNvPr id="10" name="text-10">
            <a:extLst xmlns:a="http://schemas.openxmlformats.org/drawingml/2006/main">
              <a:ext uri="{FF2B5EF4-FFF2-40B4-BE49-F238E27FC236}">
                <a16:creationId xmlns:a16="http://schemas.microsoft.com/office/drawing/2014/main" id="{35C33C18-F9FC-4B70-9D54-0271D406E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57625"/>
            <a:ext cx="121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成果证据</a:t>
            </a:r>
          </a:p>
        </p:txBody>
      </p:sp>
      <p:sp>
        <p:nvSpPr>
          <p:cNvPr id="11" name="text-11">
            <a:extLst xmlns:a="http://schemas.openxmlformats.org/drawingml/2006/main">
              <a:ext uri="{FF2B5EF4-FFF2-40B4-BE49-F238E27FC236}">
                <a16:creationId xmlns:a16="http://schemas.microsoft.com/office/drawing/2014/main" id="{4F83424A-257C-48B2-BF2D-EA36DEE93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876675"/>
            <a:ext cx="390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Action、Evidence、Artifact 与 Work 形成可验证结果</a:t>
            </a:r>
          </a:p>
        </p:txBody>
      </p:sp>
      <p:sp>
        <p:nvSpPr>
          <p:cNvPr id="12" name="text-12">
            <a:extLst xmlns:a="http://schemas.openxmlformats.org/drawingml/2006/main">
              <a:ext uri="{FF2B5EF4-FFF2-40B4-BE49-F238E27FC236}">
                <a16:creationId xmlns:a16="http://schemas.microsoft.com/office/drawing/2014/main" id="{3C36863F-5494-495E-B8F4-AB58E7FCA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24400"/>
            <a:ext cx="121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开放接入</a:t>
            </a:r>
          </a:p>
        </p:txBody>
      </p:sp>
      <p:sp>
        <p:nvSpPr>
          <p:cNvPr id="13" name="text-13">
            <a:extLst xmlns:a="http://schemas.openxmlformats.org/drawingml/2006/main">
              <a:ext uri="{FF2B5EF4-FFF2-40B4-BE49-F238E27FC236}">
                <a16:creationId xmlns:a16="http://schemas.microsoft.com/office/drawing/2014/main" id="{E3E696B6-0E55-446C-B471-770832163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743450"/>
            <a:ext cx="390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Model / Agent / Skill / Tool / Connector 可替换</a:t>
            </a:r>
          </a:p>
        </p:txBody>
      </p:sp>
      <p:sp>
        <p:nvSpPr>
          <p:cNvPr id="14" name="text-14">
            <a:extLst xmlns:a="http://schemas.openxmlformats.org/drawingml/2006/main">
              <a:ext uri="{FF2B5EF4-FFF2-40B4-BE49-F238E27FC236}">
                <a16:creationId xmlns:a16="http://schemas.microsoft.com/office/drawing/2014/main" id="{C6081BA6-DFBC-4DF4-B826-77346F60D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9CA3A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9CA3AF"/>
                </a:solidFill>
                <a:latin typeface="PingFang SC"/>
                <a:ea typeface="PingFang SC"/>
                <a:cs typeface="PingFang SC"/>
              </a:rPr>
              <a:t>模型负责推理 · Agent 负责行动 · Runtime 负责可靠运行</a:t>
            </a:r>
          </a:p>
        </p:txBody>
      </p:sp>
      <p:sp>
        <p:nvSpPr>
          <p:cNvPr id="15" name="runtime-replay-back">
            <a:extLst xmlns:a="http://schemas.openxmlformats.org/drawingml/2006/main">
              <a:ext uri="{FF2B5EF4-FFF2-40B4-BE49-F238E27FC236}">
                <a16:creationId xmlns:a16="http://schemas.microsoft.com/office/drawing/2014/main" id="{5BB6B7DE-FF68-47BF-9C62-32460C473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62100"/>
            <a:ext cx="5695950" cy="44577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1548ce88674475"/>
          <a:srcRect xmlns:a="http://schemas.openxmlformats.org/drawingml/2006/main" l="10046" t="0" r="1004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1562100"/>
            <a:ext cx="5695950" cy="4457700"/>
          </a:xfrm>
          <a:prstGeom xmlns:a="http://schemas.openxmlformats.org/drawingml/2006/main" prst="roundRect">
            <a:avLst>
              <a:gd name="adj" fmla="val 2564"/>
            </a:avLst>
          </a:prstGeom>
        </p:spPr>
      </p:pic>
    </p:spTree>
    <p:extLst>
      <p:ext uri="{BB962C8B-B14F-4D97-AF65-F5344CB8AC3E}">
        <p14:creationId xmlns:p14="http://schemas.microsoft.com/office/powerpoint/2010/main" val="10463174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section">
            <a:extLst xmlns:a="http://schemas.openxmlformats.org/drawingml/2006/main">
              <a:ext uri="{FF2B5EF4-FFF2-40B4-BE49-F238E27FC236}">
                <a16:creationId xmlns:a16="http://schemas.microsoft.com/office/drawing/2014/main" id="{4C71C2D4-4D5A-4E0E-9019-B52EFD22C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9CA3A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CA3AF"/>
                </a:solidFill>
                <a:latin typeface="PingFang SC"/>
                <a:ea typeface="PingFang SC"/>
                <a:cs typeface="PingFang SC"/>
              </a:rPr>
              <a:t>EXECUTION MODEL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5EB9DF4-132B-4692-994E-10B3D66F9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191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所有入口，都进入同一条可恢复的执行链路</a:t>
            </a:r>
          </a:p>
        </p:txBody>
      </p:sp>
      <p:sp>
        <p:nvSpPr>
          <p:cNvPr id="3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A8CA6D01-76BF-4564-88B2-7F9E5479D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9CA3AF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9CA3AF"/>
                </a:solidFill>
                <a:latin typeface="PingFang SC"/>
                <a:ea typeface="PingFang SC"/>
                <a:cs typeface="PingFang SC"/>
              </a:rPr>
              <a:t>JOYHOUSEBOT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7B023526-D75C-4B81-8A03-F35482A59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9CA3AF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9CA3A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FCBCA7F1-16C6-4FD0-A268-4FE7ABFA4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657F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657F7"/>
                </a:solidFill>
                <a:latin typeface="PingFang SC"/>
                <a:ea typeface="PingFang SC"/>
                <a:cs typeface="PingFang SC"/>
              </a:rPr>
              <a:t>同一事实源 · 同一状态机 · 同一审计链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1657B590-0F88-4A27-9E56-00019B0FC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600200"/>
            <a:ext cx="847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HTTP / SSE · Schedule · Channel · Multi-Agent · MCP</a:t>
            </a:r>
          </a:p>
        </p:txBody>
      </p:sp>
      <p:sp>
        <p:nvSpPr>
          <p:cNvPr id="7" name="chain-0">
            <a:extLst xmlns:a="http://schemas.openxmlformats.org/drawingml/2006/main">
              <a:ext uri="{FF2B5EF4-FFF2-40B4-BE49-F238E27FC236}">
                <a16:creationId xmlns:a16="http://schemas.microsoft.com/office/drawing/2014/main" id="{80243862-E2E1-4C10-9AA0-4ED3E1512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62200"/>
            <a:ext cx="1352550" cy="18478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C943BA17-C445-4E3B-880D-39BB2C597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6222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657F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6657F7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9" name="text-9">
            <a:extLst xmlns:a="http://schemas.openxmlformats.org/drawingml/2006/main">
              <a:ext uri="{FF2B5EF4-FFF2-40B4-BE49-F238E27FC236}">
                <a16:creationId xmlns:a16="http://schemas.microsoft.com/office/drawing/2014/main" id="{1FCF1BE6-2EC7-4748-899A-644162ABD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28950"/>
            <a:ext cx="104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Entry</a:t>
            </a:r>
          </a:p>
        </p:txBody>
      </p:sp>
      <p:sp>
        <p:nvSpPr>
          <p:cNvPr id="10" name="text-10">
            <a:extLst xmlns:a="http://schemas.openxmlformats.org/drawingml/2006/main">
              <a:ext uri="{FF2B5EF4-FFF2-40B4-BE49-F238E27FC236}">
                <a16:creationId xmlns:a16="http://schemas.microsoft.com/office/drawing/2014/main" id="{8F674CDC-E545-467A-8E93-4FFA9C1D6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62350"/>
            <a:ext cx="104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目标、定时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渠道与调用</a:t>
            </a:r>
          </a:p>
        </p:txBody>
      </p:sp>
      <p:sp>
        <p:nvSpPr>
          <p:cNvPr id="11" name="text-11">
            <a:extLst xmlns:a="http://schemas.openxmlformats.org/drawingml/2006/main">
              <a:ext uri="{FF2B5EF4-FFF2-40B4-BE49-F238E27FC236}">
                <a16:creationId xmlns:a16="http://schemas.microsoft.com/office/drawing/2014/main" id="{591A3422-5FA9-45E7-9286-71196B00A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028950"/>
            <a:ext cx="2762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9CA3A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9CA3AF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2" name="chain-1">
            <a:extLst xmlns:a="http://schemas.openxmlformats.org/drawingml/2006/main">
              <a:ext uri="{FF2B5EF4-FFF2-40B4-BE49-F238E27FC236}">
                <a16:creationId xmlns:a16="http://schemas.microsoft.com/office/drawing/2014/main" id="{95C41B7B-3AE0-4AEC-AEFD-6D3E611F1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2362200"/>
            <a:ext cx="1352550" cy="18478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3" name="text-13">
            <a:extLst xmlns:a="http://schemas.openxmlformats.org/drawingml/2006/main">
              <a:ext uri="{FF2B5EF4-FFF2-40B4-BE49-F238E27FC236}">
                <a16:creationId xmlns:a16="http://schemas.microsoft.com/office/drawing/2014/main" id="{38B125D8-7BFE-400D-8199-BB5C438FA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56222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657F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6657F7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4" name="text-14">
            <a:extLst xmlns:a="http://schemas.openxmlformats.org/drawingml/2006/main">
              <a:ext uri="{FF2B5EF4-FFF2-40B4-BE49-F238E27FC236}">
                <a16:creationId xmlns:a16="http://schemas.microsoft.com/office/drawing/2014/main" id="{16681CED-7A1C-410A-9897-F3781250F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3028950"/>
            <a:ext cx="104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Run</a:t>
            </a:r>
          </a:p>
        </p:txBody>
      </p:sp>
      <p:sp>
        <p:nvSpPr>
          <p:cNvPr id="15" name="text-15">
            <a:extLst xmlns:a="http://schemas.openxmlformats.org/drawingml/2006/main">
              <a:ext uri="{FF2B5EF4-FFF2-40B4-BE49-F238E27FC236}">
                <a16:creationId xmlns:a16="http://schemas.microsoft.com/office/drawing/2014/main" id="{E9AAE91A-9A7E-4EB7-9508-9B14CA6F7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3562350"/>
            <a:ext cx="104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根执行与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长期上下文</a:t>
            </a:r>
          </a:p>
        </p:txBody>
      </p:sp>
      <p:sp>
        <p:nvSpPr>
          <p:cNvPr id="16" name="text-16">
            <a:extLst xmlns:a="http://schemas.openxmlformats.org/drawingml/2006/main">
              <a:ext uri="{FF2B5EF4-FFF2-40B4-BE49-F238E27FC236}">
                <a16:creationId xmlns:a16="http://schemas.microsoft.com/office/drawing/2014/main" id="{80227761-DD6A-4056-BA80-671120E05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028950"/>
            <a:ext cx="2762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9CA3A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9CA3AF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7" name="chain-2">
            <a:extLst xmlns:a="http://schemas.openxmlformats.org/drawingml/2006/main">
              <a:ext uri="{FF2B5EF4-FFF2-40B4-BE49-F238E27FC236}">
                <a16:creationId xmlns:a16="http://schemas.microsoft.com/office/drawing/2014/main" id="{5CCE7431-A8F9-4005-9995-1CB269792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362200"/>
            <a:ext cx="1352550" cy="18478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8" name="text-18">
            <a:extLst xmlns:a="http://schemas.openxmlformats.org/drawingml/2006/main">
              <a:ext uri="{FF2B5EF4-FFF2-40B4-BE49-F238E27FC236}">
                <a16:creationId xmlns:a16="http://schemas.microsoft.com/office/drawing/2014/main" id="{517A7364-FE9D-4063-94CE-ED0F18F8B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56222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657F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6657F7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9" name="text-19">
            <a:extLst xmlns:a="http://schemas.openxmlformats.org/drawingml/2006/main">
              <a:ext uri="{FF2B5EF4-FFF2-40B4-BE49-F238E27FC236}">
                <a16:creationId xmlns:a16="http://schemas.microsoft.com/office/drawing/2014/main" id="{2ED5B136-BDCD-445B-A846-DDF5C83B5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028950"/>
            <a:ext cx="104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Task</a:t>
            </a:r>
          </a:p>
        </p:txBody>
      </p:sp>
      <p:sp>
        <p:nvSpPr>
          <p:cNvPr id="20" name="text-20">
            <a:extLst xmlns:a="http://schemas.openxmlformats.org/drawingml/2006/main">
              <a:ext uri="{FF2B5EF4-FFF2-40B4-BE49-F238E27FC236}">
                <a16:creationId xmlns:a16="http://schemas.microsoft.com/office/drawing/2014/main" id="{66F75C48-E110-425B-A885-3D72253CD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562350"/>
            <a:ext cx="104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可重试步骤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依赖与租约</a:t>
            </a:r>
          </a:p>
        </p:txBody>
      </p:sp>
      <p:sp>
        <p:nvSpPr>
          <p:cNvPr id="21" name="text-21">
            <a:extLst xmlns:a="http://schemas.openxmlformats.org/drawingml/2006/main">
              <a:ext uri="{FF2B5EF4-FFF2-40B4-BE49-F238E27FC236}">
                <a16:creationId xmlns:a16="http://schemas.microsoft.com/office/drawing/2014/main" id="{C74D418D-8C7C-4D36-A4D1-2A01C5D86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028950"/>
            <a:ext cx="2762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9CA3A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9CA3AF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2" name="chain-3">
            <a:extLst xmlns:a="http://schemas.openxmlformats.org/drawingml/2006/main">
              <a:ext uri="{FF2B5EF4-FFF2-40B4-BE49-F238E27FC236}">
                <a16:creationId xmlns:a16="http://schemas.microsoft.com/office/drawing/2014/main" id="{61358593-0DC0-434E-9BC8-56939B862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362200"/>
            <a:ext cx="1352550" cy="18478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0EEFF"/>
          </a:solidFill>
          <a:ln xmlns:a="http://schemas.openxmlformats.org/drawingml/2006/main" w="9525">
            <a:solidFill>
              <a:srgbClr val="6657F7"/>
            </a:solidFill>
            <a:prstDash val="solid"/>
          </a:ln>
        </p:spPr>
      </p:sp>
      <p:sp>
        <p:nvSpPr>
          <p:cNvPr id="23" name="text-23">
            <a:extLst xmlns:a="http://schemas.openxmlformats.org/drawingml/2006/main">
              <a:ext uri="{FF2B5EF4-FFF2-40B4-BE49-F238E27FC236}">
                <a16:creationId xmlns:a16="http://schemas.microsoft.com/office/drawing/2014/main" id="{C0C9FF05-6231-4157-8831-EA7430847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256222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657F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6657F7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4" name="text-24">
            <a:extLst xmlns:a="http://schemas.openxmlformats.org/drawingml/2006/main">
              <a:ext uri="{FF2B5EF4-FFF2-40B4-BE49-F238E27FC236}">
                <a16:creationId xmlns:a16="http://schemas.microsoft.com/office/drawing/2014/main" id="{52D27D96-8228-49B4-82A9-20E93A1B5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3028950"/>
            <a:ext cx="104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Action</a:t>
            </a:r>
          </a:p>
        </p:txBody>
      </p:sp>
      <p:sp>
        <p:nvSpPr>
          <p:cNvPr id="25" name="text-25">
            <a:extLst xmlns:a="http://schemas.openxmlformats.org/drawingml/2006/main">
              <a:ext uri="{FF2B5EF4-FFF2-40B4-BE49-F238E27FC236}">
                <a16:creationId xmlns:a16="http://schemas.microsoft.com/office/drawing/2014/main" id="{638AEBB3-FA27-46BE-B217-15E724802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3562350"/>
            <a:ext cx="104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冻结参数与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幂等身份</a:t>
            </a:r>
          </a:p>
        </p:txBody>
      </p:sp>
      <p:sp>
        <p:nvSpPr>
          <p:cNvPr id="26" name="text-26">
            <a:extLst xmlns:a="http://schemas.openxmlformats.org/drawingml/2006/main">
              <a:ext uri="{FF2B5EF4-FFF2-40B4-BE49-F238E27FC236}">
                <a16:creationId xmlns:a16="http://schemas.microsoft.com/office/drawing/2014/main" id="{57F58A28-B3A5-4870-BDD6-87D6D394C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028950"/>
            <a:ext cx="2762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9CA3A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9CA3AF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7" name="chain-4">
            <a:extLst xmlns:a="http://schemas.openxmlformats.org/drawingml/2006/main">
              <a:ext uri="{FF2B5EF4-FFF2-40B4-BE49-F238E27FC236}">
                <a16:creationId xmlns:a16="http://schemas.microsoft.com/office/drawing/2014/main" id="{2D46EB99-862A-4CDA-A3F5-3C315E4B3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362200"/>
            <a:ext cx="1352550" cy="18478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8" name="text-28">
            <a:extLst xmlns:a="http://schemas.openxmlformats.org/drawingml/2006/main">
              <a:ext uri="{FF2B5EF4-FFF2-40B4-BE49-F238E27FC236}">
                <a16:creationId xmlns:a16="http://schemas.microsoft.com/office/drawing/2014/main" id="{75D124C4-6A48-4646-A1AB-478CB6169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56222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657F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6657F7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29" name="text-29">
            <a:extLst xmlns:a="http://schemas.openxmlformats.org/drawingml/2006/main">
              <a:ext uri="{FF2B5EF4-FFF2-40B4-BE49-F238E27FC236}">
                <a16:creationId xmlns:a16="http://schemas.microsoft.com/office/drawing/2014/main" id="{BE796707-37BE-44D6-9801-76244BEA1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028950"/>
            <a:ext cx="104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Human</a:t>
            </a:r>
          </a:p>
        </p:txBody>
      </p:sp>
      <p:sp>
        <p:nvSpPr>
          <p:cNvPr id="30" name="text-30">
            <a:extLst xmlns:a="http://schemas.openxmlformats.org/drawingml/2006/main">
              <a:ext uri="{FF2B5EF4-FFF2-40B4-BE49-F238E27FC236}">
                <a16:creationId xmlns:a16="http://schemas.microsoft.com/office/drawing/2014/main" id="{9BF0523A-852D-4EE0-B6DC-2BC6AAE35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562350"/>
            <a:ext cx="104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审批、反馈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边界与恢复</a:t>
            </a:r>
          </a:p>
        </p:txBody>
      </p:sp>
      <p:sp>
        <p:nvSpPr>
          <p:cNvPr id="31" name="text-31">
            <a:extLst xmlns:a="http://schemas.openxmlformats.org/drawingml/2006/main">
              <a:ext uri="{FF2B5EF4-FFF2-40B4-BE49-F238E27FC236}">
                <a16:creationId xmlns:a16="http://schemas.microsoft.com/office/drawing/2014/main" id="{274FBB77-725A-42EB-85E8-D4176A38C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028950"/>
            <a:ext cx="2762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9CA3A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9CA3AF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32" name="chain-5">
            <a:extLst xmlns:a="http://schemas.openxmlformats.org/drawingml/2006/main">
              <a:ext uri="{FF2B5EF4-FFF2-40B4-BE49-F238E27FC236}">
                <a16:creationId xmlns:a16="http://schemas.microsoft.com/office/drawing/2014/main" id="{3E6CE7B1-31E3-4777-9416-578470C23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362200"/>
            <a:ext cx="1352550" cy="18478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3" name="text-33">
            <a:extLst xmlns:a="http://schemas.openxmlformats.org/drawingml/2006/main">
              <a:ext uri="{FF2B5EF4-FFF2-40B4-BE49-F238E27FC236}">
                <a16:creationId xmlns:a16="http://schemas.microsoft.com/office/drawing/2014/main" id="{E22A3812-FA5A-4EA9-BAE6-C87653C0E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56222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657F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6657F7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34" name="text-34">
            <a:extLst xmlns:a="http://schemas.openxmlformats.org/drawingml/2006/main">
              <a:ext uri="{FF2B5EF4-FFF2-40B4-BE49-F238E27FC236}">
                <a16:creationId xmlns:a16="http://schemas.microsoft.com/office/drawing/2014/main" id="{7E380A2E-2C3B-4BB9-AF6E-842D633A5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028950"/>
            <a:ext cx="104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Artifact</a:t>
            </a:r>
          </a:p>
        </p:txBody>
      </p:sp>
      <p:sp>
        <p:nvSpPr>
          <p:cNvPr id="35" name="text-35">
            <a:extLst xmlns:a="http://schemas.openxmlformats.org/drawingml/2006/main">
              <a:ext uri="{FF2B5EF4-FFF2-40B4-BE49-F238E27FC236}">
                <a16:creationId xmlns:a16="http://schemas.microsoft.com/office/drawing/2014/main" id="{DC86CBC6-B398-43A3-8E83-99C6E589C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562350"/>
            <a:ext cx="104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成果、证据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版本与归因</a:t>
            </a:r>
          </a:p>
        </p:txBody>
      </p:sp>
      <p:sp>
        <p:nvSpPr>
          <p:cNvPr id="36" name="text-36">
            <a:extLst xmlns:a="http://schemas.openxmlformats.org/drawingml/2006/main">
              <a:ext uri="{FF2B5EF4-FFF2-40B4-BE49-F238E27FC236}">
                <a16:creationId xmlns:a16="http://schemas.microsoft.com/office/drawing/2014/main" id="{5EBED85B-10CF-4E2B-BF39-01A7947D8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3028950"/>
            <a:ext cx="2762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9CA3A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9CA3AF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37" name="chain-6">
            <a:extLst xmlns:a="http://schemas.openxmlformats.org/drawingml/2006/main">
              <a:ext uri="{FF2B5EF4-FFF2-40B4-BE49-F238E27FC236}">
                <a16:creationId xmlns:a16="http://schemas.microsoft.com/office/drawing/2014/main" id="{D0E1F00C-D7F7-4C5E-BB61-5206BFA7C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362200"/>
            <a:ext cx="1352550" cy="18478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8" name="text-38">
            <a:extLst xmlns:a="http://schemas.openxmlformats.org/drawingml/2006/main">
              <a:ext uri="{FF2B5EF4-FFF2-40B4-BE49-F238E27FC236}">
                <a16:creationId xmlns:a16="http://schemas.microsoft.com/office/drawing/2014/main" id="{F230826A-E834-4068-8131-09F4D0FB1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56222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657F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6657F7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39" name="text-39">
            <a:extLst xmlns:a="http://schemas.openxmlformats.org/drawingml/2006/main">
              <a:ext uri="{FF2B5EF4-FFF2-40B4-BE49-F238E27FC236}">
                <a16:creationId xmlns:a16="http://schemas.microsoft.com/office/drawing/2014/main" id="{77AAE562-E986-4941-83F3-1EAC5881E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3028950"/>
            <a:ext cx="104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Replay</a:t>
            </a:r>
          </a:p>
        </p:txBody>
      </p:sp>
      <p:sp>
        <p:nvSpPr>
          <p:cNvPr id="40" name="text-40">
            <a:extLst xmlns:a="http://schemas.openxmlformats.org/drawingml/2006/main">
              <a:ext uri="{FF2B5EF4-FFF2-40B4-BE49-F238E27FC236}">
                <a16:creationId xmlns:a16="http://schemas.microsoft.com/office/drawing/2014/main" id="{98ACB286-3C16-4C7C-9D94-F6AA013E0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3562350"/>
            <a:ext cx="104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审计、恢复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评测与复盘</a:t>
            </a:r>
          </a:p>
        </p:txBody>
      </p:sp>
      <p:sp>
        <p:nvSpPr>
          <p:cNvPr id="41" name="text-41">
            <a:extLst xmlns:a="http://schemas.openxmlformats.org/drawingml/2006/main">
              <a:ext uri="{FF2B5EF4-FFF2-40B4-BE49-F238E27FC236}">
                <a16:creationId xmlns:a16="http://schemas.microsoft.com/office/drawing/2014/main" id="{BE6F864B-61AC-449D-96B1-05AF05886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95850"/>
            <a:ext cx="11391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一次请求结束不等于任务结束；Run 保存继续执行所需的全部状态。</a:t>
            </a:r>
          </a:p>
        </p:txBody>
      </p:sp>
      <p:sp>
        <p:nvSpPr>
          <p:cNvPr id="42" name="text-42">
            <a:extLst xmlns:a="http://schemas.openxmlformats.org/drawingml/2006/main">
              <a:ext uri="{FF2B5EF4-FFF2-40B4-BE49-F238E27FC236}">
                <a16:creationId xmlns:a16="http://schemas.microsoft.com/office/drawing/2014/main" id="{A10DDA67-3CE1-412F-9737-1949C1D01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00700"/>
            <a:ext cx="1139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失败、等待审批或 Worker 重启后，任务从确定状态继续，而不是重新开始。</a:t>
            </a:r>
          </a:p>
        </p:txBody>
      </p:sp>
    </p:spTree>
    <p:extLst>
      <p:ext uri="{BB962C8B-B14F-4D97-AF65-F5344CB8AC3E}">
        <p14:creationId xmlns:p14="http://schemas.microsoft.com/office/powerpoint/2010/main" val="4959690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ection">
            <a:extLst xmlns:a="http://schemas.openxmlformats.org/drawingml/2006/main">
              <a:ext uri="{FF2B5EF4-FFF2-40B4-BE49-F238E27FC236}">
                <a16:creationId xmlns:a16="http://schemas.microsoft.com/office/drawing/2014/main" id="{B14B4FC2-3E99-4EC8-B57D-5C02B19D1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9CA3A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CA3AF"/>
                </a:solidFill>
                <a:latin typeface="PingFang SC"/>
                <a:ea typeface="PingFang SC"/>
                <a:cs typeface="PingFang SC"/>
              </a:rPr>
              <a:t>CORE ADVANTAGE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0164BB1-1B67-4655-9444-1FD61E108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191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持久运行、用户控制、可验证成果</a:t>
            </a:r>
          </a:p>
        </p:txBody>
      </p:sp>
      <p:sp>
        <p:nvSpPr>
          <p:cNvPr id="3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3B184988-DBB1-46DD-8C51-B9B510AC5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9CA3AF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9CA3AF"/>
                </a:solidFill>
                <a:latin typeface="PingFang SC"/>
                <a:ea typeface="PingFang SC"/>
                <a:cs typeface="PingFang SC"/>
              </a:rPr>
              <a:t>JOYHOUSEBOT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1A9A03D8-B0C5-471E-837A-51E78FCD1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9CA3AF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9CA3AF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B3C1612F-BE1F-4C5C-BA4A-E2F50CFF7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71650"/>
            <a:ext cx="60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657F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657F7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720A6148-5F83-4B68-AC3D-1F999DFE6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288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持久运行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12C9C263-4A6C-4B61-90C9-2C780B68B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0"/>
            <a:ext cx="32575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跨进程、跨故障、跨时间</a:t>
            </a:r>
          </a:p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持续推进长程任务</a:t>
            </a:r>
          </a:p>
        </p:txBody>
      </p:sp>
      <p:cxnSp>
        <p:nvCxnSpPr>
          <p:cNvPr id="173" name="line-8"/>
          <p:cNvCxnSpPr/>
          <p:nvPr/>
        </p:nvCxnSpPr>
        <p:spPr>
          <a:xfrm xmlns:a="http://schemas.openxmlformats.org/drawingml/2006/main">
            <a:off x="400050" y="4343400"/>
            <a:ext cx="3143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1D5DB"/>
            </a:solidFill>
            <a:prstDash val="solid"/>
          </a:ln>
        </p:spPr>
      </p:cxnSp>
      <p:sp>
        <p:nvSpPr>
          <p:cNvPr id="9" name="text-9">
            <a:extLst xmlns:a="http://schemas.openxmlformats.org/drawingml/2006/main">
              <a:ext uri="{FF2B5EF4-FFF2-40B4-BE49-F238E27FC236}">
                <a16:creationId xmlns:a16="http://schemas.microsoft.com/office/drawing/2014/main" id="{EDE18F18-B445-410A-AE56-5A58FF08A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29150"/>
            <a:ext cx="3257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Run · Task · Lease · Recovery</a:t>
            </a:r>
          </a:p>
        </p:txBody>
      </p:sp>
      <p:sp>
        <p:nvSpPr>
          <p:cNvPr id="10" name="text-10">
            <a:extLst xmlns:a="http://schemas.openxmlformats.org/drawingml/2006/main">
              <a:ext uri="{FF2B5EF4-FFF2-40B4-BE49-F238E27FC236}">
                <a16:creationId xmlns:a16="http://schemas.microsoft.com/office/drawing/2014/main" id="{08E84E07-CC08-4A0B-B025-12DB1069B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771650"/>
            <a:ext cx="60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657F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657F7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1" name="text-11">
            <a:extLst xmlns:a="http://schemas.openxmlformats.org/drawingml/2006/main">
              <a:ext uri="{FF2B5EF4-FFF2-40B4-BE49-F238E27FC236}">
                <a16:creationId xmlns:a16="http://schemas.microsoft.com/office/drawing/2014/main" id="{AF3C9719-6296-4520-AF2D-6BEEFC5DD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288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用户控制</a:t>
            </a:r>
          </a:p>
        </p:txBody>
      </p:sp>
      <p:sp>
        <p:nvSpPr>
          <p:cNvPr id="12" name="text-12">
            <a:extLst xmlns:a="http://schemas.openxmlformats.org/drawingml/2006/main">
              <a:ext uri="{FF2B5EF4-FFF2-40B4-BE49-F238E27FC236}">
                <a16:creationId xmlns:a16="http://schemas.microsoft.com/office/drawing/2014/main" id="{2676078C-040B-4EDE-9D07-30F42A25F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048000"/>
            <a:ext cx="32575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权限、预算、审批和边界</a:t>
            </a:r>
          </a:p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始终由用户定义</a:t>
            </a:r>
          </a:p>
        </p:txBody>
      </p:sp>
      <p:cxnSp>
        <p:nvCxnSpPr>
          <p:cNvPr id="178" name="line-13"/>
          <p:cNvCxnSpPr/>
          <p:nvPr/>
        </p:nvCxnSpPr>
        <p:spPr>
          <a:xfrm xmlns:a="http://schemas.openxmlformats.org/drawingml/2006/main">
            <a:off x="4305300" y="4343400"/>
            <a:ext cx="3143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1D5DB"/>
            </a:solidFill>
            <a:prstDash val="solid"/>
          </a:ln>
        </p:spPr>
      </p:cxnSp>
      <p:sp>
        <p:nvSpPr>
          <p:cNvPr id="14" name="text-14">
            <a:extLst xmlns:a="http://schemas.openxmlformats.org/drawingml/2006/main">
              <a:ext uri="{FF2B5EF4-FFF2-40B4-BE49-F238E27FC236}">
                <a16:creationId xmlns:a16="http://schemas.microsoft.com/office/drawing/2014/main" id="{5117F722-BDE9-4374-9BA0-0B100404B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3257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Allowlist · Approval · Quota</a:t>
            </a:r>
          </a:p>
        </p:txBody>
      </p:sp>
      <p:sp>
        <p:nvSpPr>
          <p:cNvPr id="15" name="text-15">
            <a:extLst xmlns:a="http://schemas.openxmlformats.org/drawingml/2006/main">
              <a:ext uri="{FF2B5EF4-FFF2-40B4-BE49-F238E27FC236}">
                <a16:creationId xmlns:a16="http://schemas.microsoft.com/office/drawing/2014/main" id="{751A6C5C-1955-4E33-A5B8-B7D454F38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771650"/>
            <a:ext cx="60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657F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657F7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6" name="text-16">
            <a:extLst xmlns:a="http://schemas.openxmlformats.org/drawingml/2006/main">
              <a:ext uri="{FF2B5EF4-FFF2-40B4-BE49-F238E27FC236}">
                <a16:creationId xmlns:a16="http://schemas.microsoft.com/office/drawing/2014/main" id="{18B2CA23-AFBC-482D-AEC2-D60E83386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288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可验证成果</a:t>
            </a:r>
          </a:p>
        </p:txBody>
      </p:sp>
      <p:sp>
        <p:nvSpPr>
          <p:cNvPr id="17" name="text-17">
            <a:extLst xmlns:a="http://schemas.openxmlformats.org/drawingml/2006/main">
              <a:ext uri="{FF2B5EF4-FFF2-40B4-BE49-F238E27FC236}">
                <a16:creationId xmlns:a16="http://schemas.microsoft.com/office/drawing/2014/main" id="{46E23A6B-7CD1-4F88-A228-0BE86FAC7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048000"/>
            <a:ext cx="32575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行动、证据、产物与版本</a:t>
            </a:r>
          </a:p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能够追溯和复盘</a:t>
            </a:r>
          </a:p>
        </p:txBody>
      </p:sp>
      <p:cxnSp>
        <p:nvCxnSpPr>
          <p:cNvPr id="183" name="line-18"/>
          <p:cNvCxnSpPr/>
          <p:nvPr/>
        </p:nvCxnSpPr>
        <p:spPr>
          <a:xfrm xmlns:a="http://schemas.openxmlformats.org/drawingml/2006/main">
            <a:off x="8210550" y="4343400"/>
            <a:ext cx="3143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1D5DB"/>
            </a:solidFill>
            <a:prstDash val="solid"/>
          </a:ln>
        </p:spPr>
      </p:cxnSp>
      <p:sp>
        <p:nvSpPr>
          <p:cNvPr id="19" name="text-19">
            <a:extLst xmlns:a="http://schemas.openxmlformats.org/drawingml/2006/main">
              <a:ext uri="{FF2B5EF4-FFF2-40B4-BE49-F238E27FC236}">
                <a16:creationId xmlns:a16="http://schemas.microsoft.com/office/drawing/2014/main" id="{E21B0346-781F-469D-9B27-E8E02C5EE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629150"/>
            <a:ext cx="3257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Action · Evidence · Artifact</a:t>
            </a:r>
          </a:p>
        </p:txBody>
      </p:sp>
      <p:sp>
        <p:nvSpPr>
          <p:cNvPr id="20" name="jobs-band">
            <a:extLst xmlns:a="http://schemas.openxmlformats.org/drawingml/2006/main">
              <a:ext uri="{FF2B5EF4-FFF2-40B4-BE49-F238E27FC236}">
                <a16:creationId xmlns:a16="http://schemas.microsoft.com/office/drawing/2014/main" id="{4316F1EA-2B66-499A-9ED6-6D671DEDE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62600"/>
            <a:ext cx="11391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-21">
            <a:extLst xmlns:a="http://schemas.openxmlformats.org/drawingml/2006/main">
              <a:ext uri="{FF2B5EF4-FFF2-40B4-BE49-F238E27FC236}">
                <a16:creationId xmlns:a16="http://schemas.microsoft.com/office/drawing/2014/main" id="{B88A30B5-742A-46AC-86F7-243FCBF53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86425"/>
            <a:ext cx="1093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6657F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6657F7"/>
                </a:solidFill>
                <a:latin typeface="PingFang SC"/>
                <a:ea typeface="PingFang SC"/>
                <a:cs typeface="PingFang SC"/>
              </a:rPr>
              <a:t>不是让 Agent 更聪明，而是让 Agent 可以承担真实责任。</a:t>
            </a:r>
          </a:p>
        </p:txBody>
      </p:sp>
    </p:spTree>
    <p:extLst>
      <p:ext uri="{BB962C8B-B14F-4D97-AF65-F5344CB8AC3E}">
        <p14:creationId xmlns:p14="http://schemas.microsoft.com/office/powerpoint/2010/main" val="10418378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ection">
            <a:extLst xmlns:a="http://schemas.openxmlformats.org/drawingml/2006/main">
              <a:ext uri="{FF2B5EF4-FFF2-40B4-BE49-F238E27FC236}">
                <a16:creationId xmlns:a16="http://schemas.microsoft.com/office/drawing/2014/main" id="{9F1EDF81-B054-4623-B9BC-810AFFCA1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9CA3A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CA3AF"/>
                </a:solidFill>
                <a:latin typeface="PingFang SC"/>
                <a:ea typeface="PingFang SC"/>
                <a:cs typeface="PingFang SC"/>
              </a:rPr>
              <a:t>BOUNDARY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8D8A77A-2694-45CD-8C4E-FE5BA6FDE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191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模型与 Agent 可以替换，执行状态与治理规则不能丢</a:t>
            </a:r>
          </a:p>
        </p:txBody>
      </p:sp>
      <p:sp>
        <p:nvSpPr>
          <p:cNvPr id="3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C93AB6E2-3C1F-4951-B123-D730E5D9F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9CA3AF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9CA3AF"/>
                </a:solidFill>
                <a:latin typeface="PingFang SC"/>
                <a:ea typeface="PingFang SC"/>
                <a:cs typeface="PingFang SC"/>
              </a:rPr>
              <a:t>JOYHOUSEBOT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85D774E0-0CA4-46A3-A9B5-4664A7E18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9CA3AF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9CA3AF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5" name="private-zone">
            <a:extLst xmlns:a="http://schemas.openxmlformats.org/drawingml/2006/main">
              <a:ext uri="{FF2B5EF4-FFF2-40B4-BE49-F238E27FC236}">
                <a16:creationId xmlns:a16="http://schemas.microsoft.com/office/drawing/2014/main" id="{6A0DF676-E0C5-4B48-B28B-0EAE80FC7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5143500" cy="312420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274F1908-10F0-4D82-BD51-D88152366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REPLACEABLE INTELLIGENCE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035C4BF0-8BFF-4249-94E4-BD64CA80E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可替换执行者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8963A45C-8B8D-4208-9DA3-3923B8633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289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Models · Agents · Skills · Tools · Connectors</a:t>
            </a:r>
          </a:p>
        </p:txBody>
      </p:sp>
      <p:sp>
        <p:nvSpPr>
          <p:cNvPr id="9" name="text-9">
            <a:extLst xmlns:a="http://schemas.openxmlformats.org/drawingml/2006/main">
              <a:ext uri="{FF2B5EF4-FFF2-40B4-BE49-F238E27FC236}">
                <a16:creationId xmlns:a16="http://schemas.microsoft.com/office/drawing/2014/main" id="{3347EF20-EA2C-4655-BF67-8DECB96B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供应商、模型和执行器可以替换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不带走 Runtime 的执行历史</a:t>
            </a:r>
          </a:p>
        </p:txBody>
      </p:sp>
      <p:sp>
        <p:nvSpPr>
          <p:cNvPr id="10" name="text-10">
            <a:extLst xmlns:a="http://schemas.openxmlformats.org/drawingml/2006/main">
              <a:ext uri="{FF2B5EF4-FFF2-40B4-BE49-F238E27FC236}">
                <a16:creationId xmlns:a16="http://schemas.microsoft.com/office/drawing/2014/main" id="{94E25DDA-DE86-47FB-ABC9-9181F0275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876550"/>
            <a:ext cx="55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850" b="0">
                <a:solidFill>
                  <a:srgbClr val="6657F7"/>
                </a:solidFill>
                <a:latin typeface="PingFang SC"/>
                <a:ea typeface="PingFang SC"/>
                <a:cs typeface="PingFang SC"/>
              </a:defRPr>
            </a:pPr>
            <a:r>
              <a:rPr sz="2850" b="0">
                <a:solidFill>
                  <a:srgbClr val="6657F7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1" name="publish-zone">
            <a:extLst xmlns:a="http://schemas.openxmlformats.org/drawingml/2006/main">
              <a:ext uri="{FF2B5EF4-FFF2-40B4-BE49-F238E27FC236}">
                <a16:creationId xmlns:a16="http://schemas.microsoft.com/office/drawing/2014/main" id="{2C906D7E-0EC6-4A61-BFDE-7A9FBEFE0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676400"/>
            <a:ext cx="5543550" cy="312420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F0EEFF"/>
          </a:solidFill>
          <a:ln xmlns:a="http://schemas.openxmlformats.org/drawingml/2006/main" w="9525">
            <a:solidFill>
              <a:srgbClr val="6657F7"/>
            </a:solidFill>
            <a:prstDash val="solid"/>
          </a:ln>
        </p:spPr>
      </p:sp>
      <p:sp>
        <p:nvSpPr>
          <p:cNvPr id="12" name="text-12">
            <a:extLst xmlns:a="http://schemas.openxmlformats.org/drawingml/2006/main">
              <a:ext uri="{FF2B5EF4-FFF2-40B4-BE49-F238E27FC236}">
                <a16:creationId xmlns:a16="http://schemas.microsoft.com/office/drawing/2014/main" id="{F6F58196-0A58-4436-B6F9-3E22633E9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9240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657F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657F7"/>
                </a:solidFill>
                <a:latin typeface="PingFang SC"/>
                <a:ea typeface="PingFang SC"/>
                <a:cs typeface="PingFang SC"/>
              </a:rPr>
              <a:t>STABLE AGENT RUNTIME</a:t>
            </a:r>
          </a:p>
        </p:txBody>
      </p:sp>
      <p:sp>
        <p:nvSpPr>
          <p:cNvPr id="13" name="text-13">
            <a:extLst xmlns:a="http://schemas.openxmlformats.org/drawingml/2006/main">
              <a:ext uri="{FF2B5EF4-FFF2-40B4-BE49-F238E27FC236}">
                <a16:creationId xmlns:a16="http://schemas.microsoft.com/office/drawing/2014/main" id="{D8757B2D-CDFA-46D3-BF94-066FD8CB8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812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稳定执行内核</a:t>
            </a:r>
          </a:p>
        </p:txBody>
      </p:sp>
      <p:sp>
        <p:nvSpPr>
          <p:cNvPr id="14" name="text-14">
            <a:extLst xmlns:a="http://schemas.openxmlformats.org/drawingml/2006/main">
              <a:ext uri="{FF2B5EF4-FFF2-40B4-BE49-F238E27FC236}">
                <a16:creationId xmlns:a16="http://schemas.microsoft.com/office/drawing/2014/main" id="{E6024A76-15BF-4A28-A8BD-842537172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02895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Run · Action · Approval · Artifact · Replay</a:t>
            </a:r>
          </a:p>
        </p:txBody>
      </p:sp>
      <p:sp>
        <p:nvSpPr>
          <p:cNvPr id="15" name="text-15">
            <a:extLst xmlns:a="http://schemas.openxmlformats.org/drawingml/2006/main">
              <a:ext uri="{FF2B5EF4-FFF2-40B4-BE49-F238E27FC236}">
                <a16:creationId xmlns:a16="http://schemas.microsoft.com/office/drawing/2014/main" id="{9F2A1A72-EDE5-4D0A-8045-4CAC8CE05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75285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状态、权限、证据与恢复语义持续存在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独立于任何单一 Agent</a:t>
            </a:r>
          </a:p>
        </p:txBody>
      </p:sp>
      <p:cxnSp>
        <p:nvCxnSpPr>
          <p:cNvPr id="165" name="line-16"/>
          <p:cNvCxnSpPr/>
          <p:nvPr/>
        </p:nvCxnSpPr>
        <p:spPr>
          <a:xfrm xmlns:a="http://schemas.openxmlformats.org/drawingml/2006/main">
            <a:off x="400050" y="52387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1D5DB"/>
            </a:solidFill>
            <a:prstDash val="solid"/>
          </a:ln>
        </p:spPr>
      </p:cxnSp>
      <p:sp>
        <p:nvSpPr>
          <p:cNvPr id="17" name="text-17">
            <a:extLst xmlns:a="http://schemas.openxmlformats.org/drawingml/2006/main">
              <a:ext uri="{FF2B5EF4-FFF2-40B4-BE49-F238E27FC236}">
                <a16:creationId xmlns:a16="http://schemas.microsoft.com/office/drawing/2014/main" id="{4B38887E-8335-4AFD-A2CC-D6DD48F43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05450"/>
            <a:ext cx="2047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Apps / Channels</a:t>
            </a:r>
          </a:p>
        </p:txBody>
      </p:sp>
      <p:sp>
        <p:nvSpPr>
          <p:cNvPr id="18" name="text-18">
            <a:extLst xmlns:a="http://schemas.openxmlformats.org/drawingml/2006/main">
              <a:ext uri="{FF2B5EF4-FFF2-40B4-BE49-F238E27FC236}">
                <a16:creationId xmlns:a16="http://schemas.microsoft.com/office/drawing/2014/main" id="{B553C6B8-64C7-4DF4-B046-F462F4A7C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5505450"/>
            <a:ext cx="2047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Agent / Model</a:t>
            </a:r>
          </a:p>
        </p:txBody>
      </p:sp>
      <p:sp>
        <p:nvSpPr>
          <p:cNvPr id="19" name="text-19">
            <a:extLst xmlns:a="http://schemas.openxmlformats.org/drawingml/2006/main">
              <a:ext uri="{FF2B5EF4-FFF2-40B4-BE49-F238E27FC236}">
                <a16:creationId xmlns:a16="http://schemas.microsoft.com/office/drawing/2014/main" id="{5642DC17-5393-4359-BFD5-FB7EA1A72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505450"/>
            <a:ext cx="2047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JoyhouseBot Runtime</a:t>
            </a:r>
          </a:p>
        </p:txBody>
      </p:sp>
      <p:sp>
        <p:nvSpPr>
          <p:cNvPr id="20" name="text-20">
            <a:extLst xmlns:a="http://schemas.openxmlformats.org/drawingml/2006/main">
              <a:ext uri="{FF2B5EF4-FFF2-40B4-BE49-F238E27FC236}">
                <a16:creationId xmlns:a16="http://schemas.microsoft.com/office/drawing/2014/main" id="{49C2FFD2-3E49-4EDF-B9CB-E71D07F78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5505450"/>
            <a:ext cx="2047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Capabilities</a:t>
            </a:r>
          </a:p>
        </p:txBody>
      </p:sp>
      <p:sp>
        <p:nvSpPr>
          <p:cNvPr id="21" name="text-21">
            <a:extLst xmlns:a="http://schemas.openxmlformats.org/drawingml/2006/main">
              <a:ext uri="{FF2B5EF4-FFF2-40B4-BE49-F238E27FC236}">
                <a16:creationId xmlns:a16="http://schemas.microsoft.com/office/drawing/2014/main" id="{F9BE83DF-40F8-4D07-AD96-DD9084AE6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505450"/>
            <a:ext cx="2047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350" b="0">
                <a:solidFill>
                  <a:srgbClr val="6657F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57F7"/>
                </a:solidFill>
                <a:latin typeface="PingFang SC"/>
                <a:ea typeface="PingFang SC"/>
                <a:cs typeface="PingFang SC"/>
              </a:rPr>
              <a:t>Business Systems</a:t>
            </a:r>
          </a:p>
        </p:txBody>
      </p:sp>
    </p:spTree>
    <p:extLst>
      <p:ext uri="{BB962C8B-B14F-4D97-AF65-F5344CB8AC3E}">
        <p14:creationId xmlns:p14="http://schemas.microsoft.com/office/powerpoint/2010/main" val="16614837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section">
            <a:extLst xmlns:a="http://schemas.openxmlformats.org/drawingml/2006/main">
              <a:ext uri="{FF2B5EF4-FFF2-40B4-BE49-F238E27FC236}">
                <a16:creationId xmlns:a16="http://schemas.microsoft.com/office/drawing/2014/main" id="{382792E8-3C96-4D5B-8C93-CE0A81713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9CA3A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CA3AF"/>
                </a:solidFill>
                <a:latin typeface="PingFang SC"/>
                <a:ea typeface="PingFang SC"/>
                <a:cs typeface="PingFang SC"/>
              </a:rPr>
              <a:t>ARCHITECTURE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E58F1D9-D7DB-498F-8CE8-EF64BCE80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191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PostgreSQL 是事实源，API 与 Worker 职责分离</a:t>
            </a:r>
          </a:p>
        </p:txBody>
      </p:sp>
      <p:sp>
        <p:nvSpPr>
          <p:cNvPr id="3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26C99601-FB3D-4D86-B5EF-D1CC8633C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9CA3AF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9CA3AF"/>
                </a:solidFill>
                <a:latin typeface="PingFang SC"/>
                <a:ea typeface="PingFang SC"/>
                <a:cs typeface="PingFang SC"/>
              </a:rPr>
              <a:t>JOYHOUSEBOT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646DCC0E-3338-443A-A851-2180518D3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9CA3AF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9CA3AF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5" name="model-0">
            <a:extLst xmlns:a="http://schemas.openxmlformats.org/drawingml/2006/main">
              <a:ext uri="{FF2B5EF4-FFF2-40B4-BE49-F238E27FC236}">
                <a16:creationId xmlns:a16="http://schemas.microsoft.com/office/drawing/2014/main" id="{955521E1-375E-4C38-80D1-6B27BBE08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3562350" cy="3771900"/>
          </a:xfrm>
          <a:prstGeom xmlns:a="http://schemas.openxmlformats.org/drawingml/2006/main" prst="roundRect">
            <a:avLst>
              <a:gd name="adj" fmla="val 3209"/>
            </a:avLst>
          </a:prstGeom>
          <a:solidFill xmlns:a="http://schemas.openxmlformats.org/drawingml/2006/main">
            <a:srgbClr val="F0EEFF"/>
          </a:solidFill>
          <a:ln xmlns:a="http://schemas.openxmlformats.org/drawingml/2006/main" w="9525">
            <a:solidFill>
              <a:srgbClr val="6657F7"/>
            </a:solidFill>
            <a:prstDash val="solid"/>
          </a:ln>
        </p:spPr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ADA51018-2507-4FE6-AA0F-FA0100C8D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716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657F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657F7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D7E8F293-377A-4CD1-BE9D-98DB146C5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300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API / Control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C8916C1A-95A0-4EFE-A01F-47552CE99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38475"/>
            <a:ext cx="3000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认证 · 提交 · 查询</a:t>
            </a:r>
          </a:p>
        </p:txBody>
      </p:sp>
      <p:cxnSp>
        <p:nvCxnSpPr>
          <p:cNvPr id="219" name="line-9"/>
          <p:cNvCxnSpPr/>
          <p:nvPr/>
        </p:nvCxnSpPr>
        <p:spPr>
          <a:xfrm xmlns:a="http://schemas.openxmlformats.org/drawingml/2006/main">
            <a:off x="666750" y="3543300"/>
            <a:ext cx="30289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1D5DB"/>
            </a:solidFill>
            <a:prstDash val="solid"/>
          </a:ln>
        </p:spPr>
      </p:cxnSp>
      <p:sp>
        <p:nvSpPr>
          <p:cNvPr id="10" name="text-10">
            <a:extLst xmlns:a="http://schemas.openxmlformats.org/drawingml/2006/main">
              <a:ext uri="{FF2B5EF4-FFF2-40B4-BE49-F238E27FC236}">
                <a16:creationId xmlns:a16="http://schemas.microsoft.com/office/drawing/2014/main" id="{A5E802BA-D916-46FC-AD2C-C846ABBD7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00475"/>
            <a:ext cx="30003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HTTP / SSE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版本化公共入口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只处理控制面</a:t>
            </a:r>
          </a:p>
        </p:txBody>
      </p:sp>
      <p:sp>
        <p:nvSpPr>
          <p:cNvPr id="11" name="text-11">
            <a:extLst xmlns:a="http://schemas.openxmlformats.org/drawingml/2006/main">
              <a:ext uri="{FF2B5EF4-FFF2-40B4-BE49-F238E27FC236}">
                <a16:creationId xmlns:a16="http://schemas.microsoft.com/office/drawing/2014/main" id="{802EC85E-5449-4DAC-9545-6D42F067C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0"/>
            <a:ext cx="300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不在请求线程执行模型与工具</a:t>
            </a:r>
          </a:p>
        </p:txBody>
      </p:sp>
      <p:sp>
        <p:nvSpPr>
          <p:cNvPr id="12" name="model-1">
            <a:extLst xmlns:a="http://schemas.openxmlformats.org/drawingml/2006/main">
              <a:ext uri="{FF2B5EF4-FFF2-40B4-BE49-F238E27FC236}">
                <a16:creationId xmlns:a16="http://schemas.microsoft.com/office/drawing/2014/main" id="{8B31FB2C-4EB2-419F-90B7-130CFB5B2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695450"/>
            <a:ext cx="3562350" cy="3771900"/>
          </a:xfrm>
          <a:prstGeom xmlns:a="http://schemas.openxmlformats.org/drawingml/2006/main" prst="roundRect">
            <a:avLst>
              <a:gd name="adj" fmla="val 3209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3" name="text-13">
            <a:extLst xmlns:a="http://schemas.openxmlformats.org/drawingml/2006/main">
              <a:ext uri="{FF2B5EF4-FFF2-40B4-BE49-F238E27FC236}">
                <a16:creationId xmlns:a16="http://schemas.microsoft.com/office/drawing/2014/main" id="{6B65E4D9-5CC9-466D-99E8-81308CB81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716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657F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657F7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4" name="text-14">
            <a:extLst xmlns:a="http://schemas.openxmlformats.org/drawingml/2006/main">
              <a:ext uri="{FF2B5EF4-FFF2-40B4-BE49-F238E27FC236}">
                <a16:creationId xmlns:a16="http://schemas.microsoft.com/office/drawing/2014/main" id="{DE5A4023-D39E-4E41-A7AD-4BBBF241F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76500"/>
            <a:ext cx="300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Agent Worker</a:t>
            </a:r>
          </a:p>
        </p:txBody>
      </p:sp>
      <p:sp>
        <p:nvSpPr>
          <p:cNvPr id="15" name="text-15">
            <a:extLst xmlns:a="http://schemas.openxmlformats.org/drawingml/2006/main">
              <a:ext uri="{FF2B5EF4-FFF2-40B4-BE49-F238E27FC236}">
                <a16:creationId xmlns:a16="http://schemas.microsoft.com/office/drawing/2014/main" id="{E7E5B5AD-64B7-4BE4-8209-17305B5C6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38475"/>
            <a:ext cx="3000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推理 · 工具 · 恢复</a:t>
            </a:r>
          </a:p>
        </p:txBody>
      </p:sp>
      <p:cxnSp>
        <p:nvCxnSpPr>
          <p:cNvPr id="226" name="line-16"/>
          <p:cNvCxnSpPr/>
          <p:nvPr/>
        </p:nvCxnSpPr>
        <p:spPr>
          <a:xfrm xmlns:a="http://schemas.openxmlformats.org/drawingml/2006/main">
            <a:off x="4572000" y="3543300"/>
            <a:ext cx="30289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1D5DB"/>
            </a:solidFill>
            <a:prstDash val="solid"/>
          </a:ln>
        </p:spPr>
      </p:cxnSp>
      <p:sp>
        <p:nvSpPr>
          <p:cNvPr id="17" name="text-17">
            <a:extLst xmlns:a="http://schemas.openxmlformats.org/drawingml/2006/main">
              <a:ext uri="{FF2B5EF4-FFF2-40B4-BE49-F238E27FC236}">
                <a16:creationId xmlns:a16="http://schemas.microsoft.com/office/drawing/2014/main" id="{D0A542A8-5E00-4734-AF7F-F87584A2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800475"/>
            <a:ext cx="30003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Model / Tool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Graph / Lease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Retry / Recovery</a:t>
            </a:r>
          </a:p>
        </p:txBody>
      </p:sp>
      <p:sp>
        <p:nvSpPr>
          <p:cNvPr id="18" name="text-18">
            <a:extLst xmlns:a="http://schemas.openxmlformats.org/drawingml/2006/main">
              <a:ext uri="{FF2B5EF4-FFF2-40B4-BE49-F238E27FC236}">
                <a16:creationId xmlns:a16="http://schemas.microsoft.com/office/drawing/2014/main" id="{B2368460-E364-4B18-887C-C61F731AD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953000"/>
            <a:ext cx="300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所有执行进入统一 Run / Task</a:t>
            </a:r>
          </a:p>
        </p:txBody>
      </p:sp>
      <p:sp>
        <p:nvSpPr>
          <p:cNvPr id="19" name="model-2">
            <a:extLst xmlns:a="http://schemas.openxmlformats.org/drawingml/2006/main">
              <a:ext uri="{FF2B5EF4-FFF2-40B4-BE49-F238E27FC236}">
                <a16:creationId xmlns:a16="http://schemas.microsoft.com/office/drawing/2014/main" id="{063F58DF-7319-4254-9114-2CC270ACF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95450"/>
            <a:ext cx="3562350" cy="3771900"/>
          </a:xfrm>
          <a:prstGeom xmlns:a="http://schemas.openxmlformats.org/drawingml/2006/main" prst="roundRect">
            <a:avLst>
              <a:gd name="adj" fmla="val 3209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0" name="text-20">
            <a:extLst xmlns:a="http://schemas.openxmlformats.org/drawingml/2006/main">
              <a:ext uri="{FF2B5EF4-FFF2-40B4-BE49-F238E27FC236}">
                <a16:creationId xmlns:a16="http://schemas.microsoft.com/office/drawing/2014/main" id="{8B9C8DFB-9348-48C9-820F-6299F8E17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9716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657F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657F7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21" name="text-21">
            <a:extLst xmlns:a="http://schemas.openxmlformats.org/drawingml/2006/main">
              <a:ext uri="{FF2B5EF4-FFF2-40B4-BE49-F238E27FC236}">
                <a16:creationId xmlns:a16="http://schemas.microsoft.com/office/drawing/2014/main" id="{9BE6389D-CEB3-4C30-A553-72BB94AA7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76500"/>
            <a:ext cx="300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Scheduler / Channel</a:t>
            </a:r>
          </a:p>
        </p:txBody>
      </p:sp>
      <p:sp>
        <p:nvSpPr>
          <p:cNvPr id="22" name="text-22">
            <a:extLst xmlns:a="http://schemas.openxmlformats.org/drawingml/2006/main">
              <a:ext uri="{FF2B5EF4-FFF2-40B4-BE49-F238E27FC236}">
                <a16:creationId xmlns:a16="http://schemas.microsoft.com/office/drawing/2014/main" id="{275AD966-277C-4B66-AF62-38F4B397A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38475"/>
            <a:ext cx="3000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触发 · 交付 · 回调</a:t>
            </a:r>
          </a:p>
        </p:txBody>
      </p:sp>
      <p:cxnSp>
        <p:nvCxnSpPr>
          <p:cNvPr id="233" name="line-23"/>
          <p:cNvCxnSpPr/>
          <p:nvPr/>
        </p:nvCxnSpPr>
        <p:spPr>
          <a:xfrm xmlns:a="http://schemas.openxmlformats.org/drawingml/2006/main">
            <a:off x="8477250" y="3543300"/>
            <a:ext cx="30289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1D5DB"/>
            </a:solidFill>
            <a:prstDash val="solid"/>
          </a:ln>
        </p:spPr>
      </p:cxnSp>
      <p:sp>
        <p:nvSpPr>
          <p:cNvPr id="24" name="text-24">
            <a:extLst xmlns:a="http://schemas.openxmlformats.org/drawingml/2006/main">
              <a:ext uri="{FF2B5EF4-FFF2-40B4-BE49-F238E27FC236}">
                <a16:creationId xmlns:a16="http://schemas.microsoft.com/office/drawing/2014/main" id="{51CB594C-CE0C-4F7E-8D75-F125EAFBF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800475"/>
            <a:ext cx="30003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Schedule / Outbox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Delivery / Callback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Channel Inbound</a:t>
            </a:r>
          </a:p>
        </p:txBody>
      </p:sp>
      <p:sp>
        <p:nvSpPr>
          <p:cNvPr id="25" name="text-25">
            <a:extLst xmlns:a="http://schemas.openxmlformats.org/drawingml/2006/main">
              <a:ext uri="{FF2B5EF4-FFF2-40B4-BE49-F238E27FC236}">
                <a16:creationId xmlns:a16="http://schemas.microsoft.com/office/drawing/2014/main" id="{8102C77A-A526-4A94-B3A3-661631DFB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953000"/>
            <a:ext cx="300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不创建第二套状态机</a:t>
            </a:r>
          </a:p>
        </p:txBody>
      </p:sp>
      <p:sp>
        <p:nvSpPr>
          <p:cNvPr id="26" name="text-26">
            <a:extLst xmlns:a="http://schemas.openxmlformats.org/drawingml/2006/main">
              <a:ext uri="{FF2B5EF4-FFF2-40B4-BE49-F238E27FC236}">
                <a16:creationId xmlns:a16="http://schemas.microsoft.com/office/drawing/2014/main" id="{0C74B110-A34E-4B8C-9A74-1B8E76FCA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531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6657F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6657F7"/>
                </a:solidFill>
                <a:latin typeface="PingFang SC"/>
                <a:ea typeface="PingFang SC"/>
                <a:cs typeface="PingFang SC"/>
              </a:rPr>
              <a:t>Redis 只做加速；Run / Task 最终状态只由 PostgreSQL 决定。</a:t>
            </a:r>
          </a:p>
        </p:txBody>
      </p:sp>
    </p:spTree>
    <p:extLst>
      <p:ext uri="{BB962C8B-B14F-4D97-AF65-F5344CB8AC3E}">
        <p14:creationId xmlns:p14="http://schemas.microsoft.com/office/powerpoint/2010/main" val="5602260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section">
            <a:extLst xmlns:a="http://schemas.openxmlformats.org/drawingml/2006/main">
              <a:ext uri="{FF2B5EF4-FFF2-40B4-BE49-F238E27FC236}">
                <a16:creationId xmlns:a16="http://schemas.microsoft.com/office/drawing/2014/main" id="{F0A44056-A20B-4E30-B6E7-06B318828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9CA3A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CA3AF"/>
                </a:solidFill>
                <a:latin typeface="PingFang SC"/>
                <a:ea typeface="PingFang SC"/>
                <a:cs typeface="PingFang SC"/>
              </a:rPr>
              <a:t>POSITIONING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4C5F862-9E14-4BAF-A8A4-46A7B801F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191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JoyhouseBot 不是另一个 Agent Builder，而是 Agent Runtime</a:t>
            </a:r>
          </a:p>
        </p:txBody>
      </p:sp>
      <p:sp>
        <p:nvSpPr>
          <p:cNvPr id="3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C757A65C-46CD-4E6A-85F5-BC1EF85B2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9CA3AF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9CA3AF"/>
                </a:solidFill>
                <a:latin typeface="PingFang SC"/>
                <a:ea typeface="PingFang SC"/>
                <a:cs typeface="PingFang SC"/>
              </a:rPr>
              <a:t>JOYHOUSEBOT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4BEF524A-5A90-4C3D-980B-C89C06972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9CA3AF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9CA3AF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BE141CC4-B18E-4E39-A812-15E1EEBE8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57350"/>
            <a:ext cx="137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产品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17A044B1-0FE7-431D-9B03-BD93E73CB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1657350"/>
            <a:ext cx="2390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核心对象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1EBE5A6B-1BD5-4006-8E15-CC64BFA86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1657350"/>
            <a:ext cx="2790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主要用途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9BEEE564-DC18-4DEB-95B8-C80C6B2B9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6573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与 JoyhouseBot 的边界</a:t>
            </a:r>
          </a:p>
        </p:txBody>
      </p:sp>
      <p:cxnSp>
        <p:nvCxnSpPr>
          <p:cNvPr id="276" name="line-9"/>
          <p:cNvCxnSpPr/>
          <p:nvPr/>
        </p:nvCxnSpPr>
        <p:spPr>
          <a:xfrm xmlns:a="http://schemas.openxmlformats.org/drawingml/2006/main">
            <a:off x="400050" y="206692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</a:ln>
        </p:spPr>
      </p:cxnSp>
      <p:sp>
        <p:nvSpPr>
          <p:cNvPr id="10" name="text-10">
            <a:extLst xmlns:a="http://schemas.openxmlformats.org/drawingml/2006/main">
              <a:ext uri="{FF2B5EF4-FFF2-40B4-BE49-F238E27FC236}">
                <a16:creationId xmlns:a16="http://schemas.microsoft.com/office/drawing/2014/main" id="{89767935-6694-4B8F-B2FB-926032B48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19325"/>
            <a:ext cx="137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LangGraph</a:t>
            </a:r>
          </a:p>
        </p:txBody>
      </p:sp>
      <p:sp>
        <p:nvSpPr>
          <p:cNvPr id="11" name="text-11">
            <a:extLst xmlns:a="http://schemas.openxmlformats.org/drawingml/2006/main">
              <a:ext uri="{FF2B5EF4-FFF2-40B4-BE49-F238E27FC236}">
                <a16:creationId xmlns:a16="http://schemas.microsoft.com/office/drawing/2014/main" id="{F86032ED-0CD9-4010-9D6F-8E7CEFAC0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219325"/>
            <a:ext cx="23907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Graph / Checkpoint</a:t>
            </a:r>
          </a:p>
        </p:txBody>
      </p:sp>
      <p:sp>
        <p:nvSpPr>
          <p:cNvPr id="12" name="text-12">
            <a:extLst xmlns:a="http://schemas.openxmlformats.org/drawingml/2006/main">
              <a:ext uri="{FF2B5EF4-FFF2-40B4-BE49-F238E27FC236}">
                <a16:creationId xmlns:a16="http://schemas.microsoft.com/office/drawing/2014/main" id="{24C9EA79-8106-460F-B0AD-74F7FB870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219325"/>
            <a:ext cx="27908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Agent 编排与持久执行</a:t>
            </a:r>
          </a:p>
        </p:txBody>
      </p:sp>
      <p:sp>
        <p:nvSpPr>
          <p:cNvPr id="13" name="text-13">
            <a:extLst xmlns:a="http://schemas.openxmlformats.org/drawingml/2006/main">
              <a:ext uri="{FF2B5EF4-FFF2-40B4-BE49-F238E27FC236}">
                <a16:creationId xmlns:a16="http://schemas.microsoft.com/office/drawing/2014/main" id="{EE3BE6C5-8E0D-4290-BF46-C24F23F99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219325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嵌入应用栈；JoyhouseBot 提供独立控制面</a:t>
            </a:r>
          </a:p>
        </p:txBody>
      </p:sp>
      <p:cxnSp>
        <p:nvCxnSpPr>
          <p:cNvPr id="281" name="line-14"/>
          <p:cNvCxnSpPr/>
          <p:nvPr/>
        </p:nvCxnSpPr>
        <p:spPr>
          <a:xfrm xmlns:a="http://schemas.openxmlformats.org/drawingml/2006/main">
            <a:off x="400050" y="27813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1D5DB"/>
            </a:solidFill>
            <a:prstDash val="solid"/>
          </a:ln>
        </p:spPr>
      </p:cxnSp>
      <p:sp>
        <p:nvSpPr>
          <p:cNvPr id="15" name="text-15">
            <a:extLst xmlns:a="http://schemas.openxmlformats.org/drawingml/2006/main">
              <a:ext uri="{FF2B5EF4-FFF2-40B4-BE49-F238E27FC236}">
                <a16:creationId xmlns:a16="http://schemas.microsoft.com/office/drawing/2014/main" id="{1C2CB1D0-322E-4D29-B6FF-76725B580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943225"/>
            <a:ext cx="137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Dify / Coze</a:t>
            </a:r>
          </a:p>
        </p:txBody>
      </p:sp>
      <p:sp>
        <p:nvSpPr>
          <p:cNvPr id="16" name="text-16">
            <a:extLst xmlns:a="http://schemas.openxmlformats.org/drawingml/2006/main">
              <a:ext uri="{FF2B5EF4-FFF2-40B4-BE49-F238E27FC236}">
                <a16:creationId xmlns:a16="http://schemas.microsoft.com/office/drawing/2014/main" id="{836E2907-D5D7-4434-860B-5AB8D2F27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943225"/>
            <a:ext cx="23907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App / Agent / Workflow</a:t>
            </a:r>
          </a:p>
        </p:txBody>
      </p:sp>
      <p:sp>
        <p:nvSpPr>
          <p:cNvPr id="17" name="text-17">
            <a:extLst xmlns:a="http://schemas.openxmlformats.org/drawingml/2006/main">
              <a:ext uri="{FF2B5EF4-FFF2-40B4-BE49-F238E27FC236}">
                <a16:creationId xmlns:a16="http://schemas.microsoft.com/office/drawing/2014/main" id="{FFC7E844-C8A8-47C5-B88A-4526F1017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943225"/>
            <a:ext cx="27908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构建、编排、发布 AI 应用</a:t>
            </a:r>
          </a:p>
        </p:txBody>
      </p:sp>
      <p:sp>
        <p:nvSpPr>
          <p:cNvPr id="18" name="text-18">
            <a:extLst xmlns:a="http://schemas.openxmlformats.org/drawingml/2006/main">
              <a:ext uri="{FF2B5EF4-FFF2-40B4-BE49-F238E27FC236}">
                <a16:creationId xmlns:a16="http://schemas.microsoft.com/office/drawing/2014/main" id="{EF52D9FA-47A5-4768-884C-EEBD3E384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943225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JoyhouseBot 托管跨 App 的统一执行链</a:t>
            </a:r>
          </a:p>
        </p:txBody>
      </p:sp>
      <p:cxnSp>
        <p:nvCxnSpPr>
          <p:cNvPr id="286" name="line-19"/>
          <p:cNvCxnSpPr/>
          <p:nvPr/>
        </p:nvCxnSpPr>
        <p:spPr>
          <a:xfrm xmlns:a="http://schemas.openxmlformats.org/drawingml/2006/main">
            <a:off x="400050" y="35052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1D5DB"/>
            </a:solidFill>
            <a:prstDash val="solid"/>
          </a:ln>
        </p:spPr>
      </p:cxnSp>
      <p:sp>
        <p:nvSpPr>
          <p:cNvPr id="20" name="text-20">
            <a:extLst xmlns:a="http://schemas.openxmlformats.org/drawingml/2006/main">
              <a:ext uri="{FF2B5EF4-FFF2-40B4-BE49-F238E27FC236}">
                <a16:creationId xmlns:a16="http://schemas.microsoft.com/office/drawing/2014/main" id="{790CD238-0EB5-4559-A968-46CA5D866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67125"/>
            <a:ext cx="137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n8n</a:t>
            </a:r>
          </a:p>
        </p:txBody>
      </p:sp>
      <p:sp>
        <p:nvSpPr>
          <p:cNvPr id="21" name="text-21">
            <a:extLst xmlns:a="http://schemas.openxmlformats.org/drawingml/2006/main">
              <a:ext uri="{FF2B5EF4-FFF2-40B4-BE49-F238E27FC236}">
                <a16:creationId xmlns:a16="http://schemas.microsoft.com/office/drawing/2014/main" id="{F9B246BE-CD6F-4D56-9CDB-7841158D4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667125"/>
            <a:ext cx="23907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Workflow / Integration</a:t>
            </a:r>
          </a:p>
        </p:txBody>
      </p:sp>
      <p:sp>
        <p:nvSpPr>
          <p:cNvPr id="22" name="text-22">
            <a:extLst xmlns:a="http://schemas.openxmlformats.org/drawingml/2006/main">
              <a:ext uri="{FF2B5EF4-FFF2-40B4-BE49-F238E27FC236}">
                <a16:creationId xmlns:a16="http://schemas.microsoft.com/office/drawing/2014/main" id="{5408DE5E-6FA5-492F-BD74-48C63019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667125"/>
            <a:ext cx="27908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连接系统并自动化</a:t>
            </a:r>
          </a:p>
        </p:txBody>
      </p:sp>
      <p:sp>
        <p:nvSpPr>
          <p:cNvPr id="23" name="text-23">
            <a:extLst xmlns:a="http://schemas.openxmlformats.org/drawingml/2006/main">
              <a:ext uri="{FF2B5EF4-FFF2-40B4-BE49-F238E27FC236}">
                <a16:creationId xmlns:a16="http://schemas.microsoft.com/office/drawing/2014/main" id="{5EE58D9C-4795-404E-8BCF-181238FC1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667125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JoyhouseBot 以 Agent 治理和成果为核心</a:t>
            </a:r>
          </a:p>
        </p:txBody>
      </p:sp>
      <p:cxnSp>
        <p:nvCxnSpPr>
          <p:cNvPr id="291" name="line-24"/>
          <p:cNvCxnSpPr/>
          <p:nvPr/>
        </p:nvCxnSpPr>
        <p:spPr>
          <a:xfrm xmlns:a="http://schemas.openxmlformats.org/drawingml/2006/main">
            <a:off x="400050" y="42291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1D5DB"/>
            </a:solidFill>
            <a:prstDash val="solid"/>
          </a:ln>
        </p:spPr>
      </p:cxnSp>
      <p:sp>
        <p:nvSpPr>
          <p:cNvPr id="25" name="text-25">
            <a:extLst xmlns:a="http://schemas.openxmlformats.org/drawingml/2006/main">
              <a:ext uri="{FF2B5EF4-FFF2-40B4-BE49-F238E27FC236}">
                <a16:creationId xmlns:a16="http://schemas.microsoft.com/office/drawing/2014/main" id="{9C98B843-E0FD-4ACD-8522-97203089B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91025"/>
            <a:ext cx="137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Temporal</a:t>
            </a:r>
          </a:p>
        </p:txBody>
      </p:sp>
      <p:sp>
        <p:nvSpPr>
          <p:cNvPr id="26" name="text-26">
            <a:extLst xmlns:a="http://schemas.openxmlformats.org/drawingml/2006/main">
              <a:ext uri="{FF2B5EF4-FFF2-40B4-BE49-F238E27FC236}">
                <a16:creationId xmlns:a16="http://schemas.microsoft.com/office/drawing/2014/main" id="{00F72F91-3A94-466A-A30A-9D40B1490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391025"/>
            <a:ext cx="23907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Workflow / Activity</a:t>
            </a:r>
          </a:p>
        </p:txBody>
      </p:sp>
      <p:sp>
        <p:nvSpPr>
          <p:cNvPr id="27" name="text-27">
            <a:extLst xmlns:a="http://schemas.openxmlformats.org/drawingml/2006/main">
              <a:ext uri="{FF2B5EF4-FFF2-40B4-BE49-F238E27FC236}">
                <a16:creationId xmlns:a16="http://schemas.microsoft.com/office/drawing/2014/main" id="{084DD686-A01B-4BBC-8D07-80BECC3F9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391025"/>
            <a:ext cx="27908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通用可靠应用执行</a:t>
            </a:r>
          </a:p>
        </p:txBody>
      </p:sp>
      <p:sp>
        <p:nvSpPr>
          <p:cNvPr id="28" name="text-28">
            <a:extLst xmlns:a="http://schemas.openxmlformats.org/drawingml/2006/main">
              <a:ext uri="{FF2B5EF4-FFF2-40B4-BE49-F238E27FC236}">
                <a16:creationId xmlns:a16="http://schemas.microsoft.com/office/drawing/2014/main" id="{C78CF90E-40C5-490F-BC96-2257E2E61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391025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JoyhouseBot 提供 Agent-native 语义</a:t>
            </a:r>
          </a:p>
        </p:txBody>
      </p:sp>
      <p:cxnSp>
        <p:nvCxnSpPr>
          <p:cNvPr id="296" name="line-29"/>
          <p:cNvCxnSpPr/>
          <p:nvPr/>
        </p:nvCxnSpPr>
        <p:spPr>
          <a:xfrm xmlns:a="http://schemas.openxmlformats.org/drawingml/2006/main">
            <a:off x="400050" y="49530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1D5DB"/>
            </a:solidFill>
            <a:prstDash val="solid"/>
          </a:ln>
        </p:spPr>
      </p:cxnSp>
      <p:sp>
        <p:nvSpPr>
          <p:cNvPr id="30" name="joyhouse-row">
            <a:extLst xmlns:a="http://schemas.openxmlformats.org/drawingml/2006/main">
              <a:ext uri="{FF2B5EF4-FFF2-40B4-BE49-F238E27FC236}">
                <a16:creationId xmlns:a16="http://schemas.microsoft.com/office/drawing/2014/main" id="{D812538B-6E9B-476A-99AB-87220719E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81575"/>
            <a:ext cx="113919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ext-31">
            <a:extLst xmlns:a="http://schemas.openxmlformats.org/drawingml/2006/main">
              <a:ext uri="{FF2B5EF4-FFF2-40B4-BE49-F238E27FC236}">
                <a16:creationId xmlns:a16="http://schemas.microsoft.com/office/drawing/2014/main" id="{E6DFE74F-211A-447A-A4E6-5DA7F549A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14925"/>
            <a:ext cx="137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657F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6657F7"/>
                </a:solidFill>
                <a:latin typeface="PingFang SC"/>
                <a:ea typeface="PingFang SC"/>
                <a:cs typeface="PingFang SC"/>
              </a:rPr>
              <a:t>JoyhouseBot</a:t>
            </a:r>
          </a:p>
        </p:txBody>
      </p:sp>
      <p:sp>
        <p:nvSpPr>
          <p:cNvPr id="32" name="text-32">
            <a:extLst xmlns:a="http://schemas.openxmlformats.org/drawingml/2006/main">
              <a:ext uri="{FF2B5EF4-FFF2-40B4-BE49-F238E27FC236}">
                <a16:creationId xmlns:a16="http://schemas.microsoft.com/office/drawing/2014/main" id="{7CB46E70-D092-4B86-8BB6-E304E23A9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114925"/>
            <a:ext cx="23907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Run / Action / Artifact</a:t>
            </a:r>
          </a:p>
        </p:txBody>
      </p:sp>
      <p:sp>
        <p:nvSpPr>
          <p:cNvPr id="33" name="text-33">
            <a:extLst xmlns:a="http://schemas.openxmlformats.org/drawingml/2006/main">
              <a:ext uri="{FF2B5EF4-FFF2-40B4-BE49-F238E27FC236}">
                <a16:creationId xmlns:a16="http://schemas.microsoft.com/office/drawing/2014/main" id="{4D0FBAF3-9492-4317-97C3-633351808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114925"/>
            <a:ext cx="27908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托管真实 Agent 工作</a:t>
            </a:r>
          </a:p>
        </p:txBody>
      </p:sp>
      <p:sp>
        <p:nvSpPr>
          <p:cNvPr id="34" name="text-34">
            <a:extLst xmlns:a="http://schemas.openxmlformats.org/drawingml/2006/main">
              <a:ext uri="{FF2B5EF4-FFF2-40B4-BE49-F238E27FC236}">
                <a16:creationId xmlns:a16="http://schemas.microsoft.com/office/drawing/2014/main" id="{0A0CB3CD-4E26-49E4-A6B0-0294A2481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114925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长程执行 + 治理 + 人类最终权限</a:t>
            </a:r>
          </a:p>
        </p:txBody>
      </p:sp>
      <p:sp>
        <p:nvSpPr>
          <p:cNvPr id="35" name="text-35">
            <a:extLst xmlns:a="http://schemas.openxmlformats.org/drawingml/2006/main">
              <a:ext uri="{FF2B5EF4-FFF2-40B4-BE49-F238E27FC236}">
                <a16:creationId xmlns:a16="http://schemas.microsoft.com/office/drawing/2014/main" id="{C0CD2EA8-BBBD-438A-BFE0-934A4A4AC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72150"/>
            <a:ext cx="1139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6657F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6657F7"/>
                </a:solidFill>
                <a:latin typeface="PingFang SC"/>
                <a:ea typeface="PingFang SC"/>
                <a:cs typeface="PingFang SC"/>
              </a:rPr>
              <a:t>LangGraph 编排 Agent；Dify / Coze 建应用；n8n 连接系统；</a:t>
            </a:r>
          </a:p>
          <a:p xmlns:a="http://schemas.openxmlformats.org/drawingml/2006/main">
            <a:pPr algn="l">
              <a:buNone/>
              <a:defRPr sz="1275" b="1">
                <a:solidFill>
                  <a:srgbClr val="6657F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6657F7"/>
                </a:solidFill>
                <a:latin typeface="PingFang SC"/>
                <a:ea typeface="PingFang SC"/>
                <a:cs typeface="PingFang SC"/>
              </a:rPr>
              <a:t>Temporal 执行通用工作流；JoyhouseBot 托管受治理的 Agent 工作。</a:t>
            </a:r>
          </a:p>
        </p:txBody>
      </p:sp>
    </p:spTree>
    <p:extLst>
      <p:ext uri="{BB962C8B-B14F-4D97-AF65-F5344CB8AC3E}">
        <p14:creationId xmlns:p14="http://schemas.microsoft.com/office/powerpoint/2010/main" val="34081239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ection">
            <a:extLst xmlns:a="http://schemas.openxmlformats.org/drawingml/2006/main">
              <a:ext uri="{FF2B5EF4-FFF2-40B4-BE49-F238E27FC236}">
                <a16:creationId xmlns:a16="http://schemas.microsoft.com/office/drawing/2014/main" id="{73BFF2E3-F075-46D4-980A-21ACC39FC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9CA3A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CA3AF"/>
                </a:solidFill>
                <a:latin typeface="PingFang SC"/>
                <a:ea typeface="PingFang SC"/>
                <a:cs typeface="PingFang SC"/>
              </a:rPr>
              <a:t>PROOF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113C063-5EC1-420E-A27B-D1E400478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191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核心能力已具备，并运行在统一控制面中</a:t>
            </a:r>
          </a:p>
        </p:txBody>
      </p:sp>
      <p:sp>
        <p:nvSpPr>
          <p:cNvPr id="3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2522053D-C1D0-4DF5-ACE0-4DFBC3C60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9CA3AF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9CA3AF"/>
                </a:solidFill>
                <a:latin typeface="PingFang SC"/>
                <a:ea typeface="PingFang SC"/>
                <a:cs typeface="PingFang SC"/>
              </a:rPr>
              <a:t>JOYHOUSEBOT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876A9CEA-F791-458E-8656-3CD10CE14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9CA3AF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9CA3AF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5" name="search-ui-back">
            <a:extLst xmlns:a="http://schemas.openxmlformats.org/drawingml/2006/main">
              <a:ext uri="{FF2B5EF4-FFF2-40B4-BE49-F238E27FC236}">
                <a16:creationId xmlns:a16="http://schemas.microsoft.com/office/drawing/2014/main" id="{E8918D15-D2C9-4AA0-B4A7-B13ABC4E9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5381625" cy="2905125"/>
          </a:xfrm>
          <a:prstGeom xmlns:a="http://schemas.openxmlformats.org/drawingml/2006/main" prst="roundRect">
            <a:avLst>
              <a:gd name="adj" fmla="val 3934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pic>
        <p:nvPicPr>
          <p:cNvPr id="1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b0fd4838114186"/>
          <a:srcRect xmlns:a="http://schemas.openxmlformats.org/drawingml/2006/main" l="4363" t="0" r="436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600200"/>
            <a:ext cx="5381625" cy="2905125"/>
          </a:xfrm>
          <a:prstGeom xmlns:a="http://schemas.openxmlformats.org/drawingml/2006/main" prst="roundRect">
            <a:avLst/>
          </a:prstGeom>
        </p:spPr>
      </p:pic>
      <p:sp>
        <p:nvSpPr>
          <p:cNvPr id="7" name="replay-ui-back">
            <a:extLst xmlns:a="http://schemas.openxmlformats.org/drawingml/2006/main">
              <a:ext uri="{FF2B5EF4-FFF2-40B4-BE49-F238E27FC236}">
                <a16:creationId xmlns:a16="http://schemas.microsoft.com/office/drawing/2014/main" id="{745AEF3B-C91D-49A6-8917-4F6B1CCB8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600200"/>
            <a:ext cx="5829300" cy="2905125"/>
          </a:xfrm>
          <a:prstGeom xmlns:a="http://schemas.openxmlformats.org/drawingml/2006/main" prst="roundRect">
            <a:avLst>
              <a:gd name="adj" fmla="val 3934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pic>
        <p:nvPicPr>
          <p:cNvPr id="1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2b6cfeead14a33"/>
          <a:srcRect xmlns:a="http://schemas.openxmlformats.org/drawingml/2006/main" l="0" t="10155" r="0" b="101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62650" y="1600200"/>
            <a:ext cx="5829300" cy="2905125"/>
          </a:xfrm>
          <a:prstGeom xmlns:a="http://schemas.openxmlformats.org/drawingml/2006/main" prst="roundRect">
            <a:avLst>
              <a:gd name="adj" fmla="val 3934"/>
            </a:avLst>
          </a:prstGeom>
        </p:spPr>
      </p:pic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3ED70AAC-97E8-428F-B9DA-A1A9400A9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291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监控与接入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6A2C3C02-590A-4BC6-89D2-FA3C07D03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629150"/>
            <a:ext cx="3667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Health / Worker / Runs</a:t>
            </a:r>
          </a:p>
        </p:txBody>
      </p:sp>
      <p:sp>
        <p:nvSpPr>
          <p:cNvPr id="11" name="text-9">
            <a:extLst xmlns:a="http://schemas.openxmlformats.org/drawingml/2006/main">
              <a:ext uri="{FF2B5EF4-FFF2-40B4-BE49-F238E27FC236}">
                <a16:creationId xmlns:a16="http://schemas.microsoft.com/office/drawing/2014/main" id="{6B275335-440D-448E-896D-5380F1AE2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62915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执行与回放</a:t>
            </a:r>
          </a:p>
        </p:txBody>
      </p:sp>
      <p:sp>
        <p:nvSpPr>
          <p:cNvPr id="12" name="text-10">
            <a:extLst xmlns:a="http://schemas.openxmlformats.org/drawingml/2006/main">
              <a:ext uri="{FF2B5EF4-FFF2-40B4-BE49-F238E27FC236}">
                <a16:creationId xmlns:a16="http://schemas.microsoft.com/office/drawing/2014/main" id="{B0342FA3-037C-4729-9B44-FEF976661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629150"/>
            <a:ext cx="3924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Lease · Approval · Replay · Evidence</a:t>
            </a:r>
          </a:p>
        </p:txBody>
      </p:sp>
      <p:cxnSp>
        <p:nvCxnSpPr>
          <p:cNvPr id="150" name="line-11"/>
          <p:cNvCxnSpPr/>
          <p:nvPr/>
        </p:nvCxnSpPr>
        <p:spPr>
          <a:xfrm xmlns:a="http://schemas.openxmlformats.org/drawingml/2006/main">
            <a:off x="400050" y="51435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1D5DB"/>
            </a:solidFill>
            <a:prstDash val="solid"/>
          </a:ln>
        </p:spPr>
      </p:cxnSp>
      <p:sp>
        <p:nvSpPr>
          <p:cNvPr id="14" name="text-12">
            <a:extLst xmlns:a="http://schemas.openxmlformats.org/drawingml/2006/main">
              <a:ext uri="{FF2B5EF4-FFF2-40B4-BE49-F238E27FC236}">
                <a16:creationId xmlns:a16="http://schemas.microsoft.com/office/drawing/2014/main" id="{8EC64FD2-B9A1-4308-A6EC-0178C9711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1020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FA971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FA971"/>
                </a:solidFill>
                <a:latin typeface="PingFang SC"/>
                <a:ea typeface="PingFang SC"/>
                <a:cs typeface="PingFang SC"/>
              </a:rPr>
              <a:t>已具备</a:t>
            </a:r>
          </a:p>
        </p:txBody>
      </p:sp>
      <p:sp>
        <p:nvSpPr>
          <p:cNvPr id="15" name="text-13">
            <a:extLst xmlns:a="http://schemas.openxmlformats.org/drawingml/2006/main">
              <a:ext uri="{FF2B5EF4-FFF2-40B4-BE49-F238E27FC236}">
                <a16:creationId xmlns:a16="http://schemas.microsoft.com/office/drawing/2014/main" id="{94E6EC18-7A15-41AA-80FC-6D29E6E6D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81625"/>
            <a:ext cx="519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PG-first · Schedule / Approval · Artifact / Work</a:t>
            </a:r>
          </a:p>
        </p:txBody>
      </p:sp>
      <p:sp>
        <p:nvSpPr>
          <p:cNvPr id="16" name="text-14">
            <a:extLst xmlns:a="http://schemas.openxmlformats.org/drawingml/2006/main">
              <a:ext uri="{FF2B5EF4-FFF2-40B4-BE49-F238E27FC236}">
                <a16:creationId xmlns:a16="http://schemas.microsoft.com/office/drawing/2014/main" id="{6D83CFEB-C83F-4941-AA82-5E80F8CA1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41020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657F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6657F7"/>
                </a:solidFill>
                <a:latin typeface="PingFang SC"/>
                <a:ea typeface="PingFang SC"/>
                <a:cs typeface="PingFang SC"/>
              </a:rPr>
              <a:t>工程验证</a:t>
            </a:r>
          </a:p>
        </p:txBody>
      </p:sp>
      <p:sp>
        <p:nvSpPr>
          <p:cNvPr id="17" name="text-15">
            <a:extLst xmlns:a="http://schemas.openxmlformats.org/drawingml/2006/main">
              <a:ext uri="{FF2B5EF4-FFF2-40B4-BE49-F238E27FC236}">
                <a16:creationId xmlns:a16="http://schemas.microsoft.com/office/drawing/2014/main" id="{4D657CC2-33EF-4CD0-BFC6-FD076E5DE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381625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恢复正确性 · 副作用幂等 · 审批闭环 · 开发者体验</a:t>
            </a:r>
          </a:p>
        </p:txBody>
      </p:sp>
    </p:spTree>
    <p:extLst>
      <p:ext uri="{BB962C8B-B14F-4D97-AF65-F5344CB8AC3E}">
        <p14:creationId xmlns:p14="http://schemas.microsoft.com/office/powerpoint/2010/main" val="88036093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1">
            <a:extLst xmlns:a="http://schemas.openxmlformats.org/drawingml/2006/main">
              <a:ext uri="{FF2B5EF4-FFF2-40B4-BE49-F238E27FC236}">
                <a16:creationId xmlns:a16="http://schemas.microsoft.com/office/drawing/2014/main" id="{A8D5BDC6-0234-472E-8D95-BE86EEE65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657F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6657F7"/>
                </a:solidFill>
                <a:latin typeface="PingFang SC"/>
                <a:ea typeface="PingFang SC"/>
                <a:cs typeface="PingFang SC"/>
              </a:rPr>
              <a:t>JOYHOUSEBOT · OPEN SOURCE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882968EE-DA07-4F0D-8EC1-395074295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76350"/>
            <a:ext cx="7143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43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让 Agent 从“能执行”走向</a:t>
            </a:r>
          </a:p>
          <a:p xmlns:a="http://schemas.openxmlformats.org/drawingml/2006/main">
            <a:pPr algn="l">
              <a:buNone/>
              <a:defRPr sz="43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43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“值得托付”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9C633F28-21CE-4F4A-B1BC-56588C6E7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76625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JoyhouseBot Runtime 提供：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778EBE2C-1F26-4C20-8F4D-EF0B43C9A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48125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6657F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6657F7"/>
                </a:solidFill>
                <a:latin typeface="PingFang SC"/>
                <a:ea typeface="PingFang SC"/>
                <a:cs typeface="PingFang SC"/>
              </a:rPr>
              <a:t>01  持久运行：跨故障持续推进长程任务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DD4BBB3F-8146-4059-A340-992E7E348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05325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02  用户控制：权限、审批、预算与边界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0BA32C80-931D-4BCF-9F2D-A85736239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62525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03  可验证成果：证据、产物、审计与回放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069BD13D-DB84-4145-9B53-1D3E63B67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19725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04  开放生态：Agent、模型、Skill 与 App 可替换</a:t>
            </a:r>
          </a:p>
        </p:txBody>
      </p:sp>
      <p:sp>
        <p:nvSpPr>
          <p:cNvPr id="8" name="hardware-concept-back">
            <a:extLst xmlns:a="http://schemas.openxmlformats.org/drawingml/2006/main">
              <a:ext uri="{FF2B5EF4-FFF2-40B4-BE49-F238E27FC236}">
                <a16:creationId xmlns:a16="http://schemas.microsoft.com/office/drawing/2014/main" id="{A244E3DD-40C6-4E53-9862-5B669B141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819150"/>
            <a:ext cx="3333750" cy="476250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776626fb644ae2"/>
          <a:srcRect xmlns:a="http://schemas.openxmlformats.org/drawingml/2006/main" l="0" t="2381" r="0" b="23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58200" y="819150"/>
            <a:ext cx="3333750" cy="476250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412B5C33-A750-4710-A1ED-287189ADF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810250"/>
            <a:ext cx="3581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Open-source Agent Runtime</a:t>
            </a:r>
          </a:p>
        </p:txBody>
      </p:sp>
      <p:sp>
        <p:nvSpPr>
          <p:cNvPr id="11" name="close-accent">
            <a:extLst xmlns:a="http://schemas.openxmlformats.org/drawingml/2006/main">
              <a:ext uri="{FF2B5EF4-FFF2-40B4-BE49-F238E27FC236}">
                <a16:creationId xmlns:a16="http://schemas.microsoft.com/office/drawing/2014/main" id="{59EF2E06-6621-41F6-B07A-20946E575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72200"/>
            <a:ext cx="1809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F7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648218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2026-08-12T03:53:40.5830000Z</dcterms:created>
  <dcterms:modified xsi:type="dcterms:W3CDTF">2026-08-12T03:53:40.5830000Z</dcterms:modified>
</coreProperties>
</file>