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6300c2a18471d" /><Relationship Type="http://schemas.openxmlformats.org/officeDocument/2006/relationships/extended-properties" Target="/docProps/app.xml" Id="R8138feb735ab4bd7" /><Relationship Type="http://schemas.openxmlformats.org/officeDocument/2006/relationships/officeDocument" Target="/ppt/presentation.xml" Id="R24e77c6a6980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72952b03e94110"/>
  </p:sldMasterIdLst>
  <p:notesMasterIdLst>
    <p:notesMasterId xmlns:r="http://schemas.openxmlformats.org/officeDocument/2006/relationships" r:id="Rd0b1359cade84795"/>
  </p:notesMasterIdLst>
  <p:sldIdLst>
    <p:sldId xmlns:r="http://schemas.openxmlformats.org/officeDocument/2006/relationships" id="256" r:id="R6c75fe2851b8494b"/>
    <p:sldId xmlns:r="http://schemas.openxmlformats.org/officeDocument/2006/relationships" id="257" r:id="R9c28cfc664414c64"/>
    <p:sldId xmlns:r="http://schemas.openxmlformats.org/officeDocument/2006/relationships" id="258" r:id="Rc55eef00e513478b"/>
    <p:sldId xmlns:r="http://schemas.openxmlformats.org/officeDocument/2006/relationships" id="259" r:id="R19b160a0659c4ddb"/>
    <p:sldId xmlns:r="http://schemas.openxmlformats.org/officeDocument/2006/relationships" id="260" r:id="Rf895b678252d49df"/>
    <p:sldId xmlns:r="http://schemas.openxmlformats.org/officeDocument/2006/relationships" id="261" r:id="Rc5438ea2e49948d3"/>
    <p:sldId xmlns:r="http://schemas.openxmlformats.org/officeDocument/2006/relationships" id="262" r:id="Rc1a1dca62a904df9"/>
    <p:sldId xmlns:r="http://schemas.openxmlformats.org/officeDocument/2006/relationships" id="263" r:id="Rf57e60700955447c"/>
    <p:sldId xmlns:r="http://schemas.openxmlformats.org/officeDocument/2006/relationships" id="264" r:id="R71e4c5e5991544de"/>
    <p:sldId xmlns:r="http://schemas.openxmlformats.org/officeDocument/2006/relationships" id="265" r:id="R160ee81ed7e34a2f"/>
    <p:sldId xmlns:r="http://schemas.openxmlformats.org/officeDocument/2006/relationships" id="266" r:id="Ra17718cc5cdd47b0"/>
    <p:sldId xmlns:r="http://schemas.openxmlformats.org/officeDocument/2006/relationships" id="267" r:id="R9037358689a542f2"/>
    <p:sldId xmlns:r="http://schemas.openxmlformats.org/officeDocument/2006/relationships" id="268" r:id="Rba34640a8fd34005"/>
    <p:sldId xmlns:r="http://schemas.openxmlformats.org/officeDocument/2006/relationships" id="269" r:id="R82bfc1f0674d46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6679784d7f4e57" /><Relationship Type="http://schemas.openxmlformats.org/officeDocument/2006/relationships/slideMaster" Target="/ppt/slideMasters/slideMaster1.xml" Id="Raf72952b03e94110" /><Relationship Type="http://schemas.openxmlformats.org/officeDocument/2006/relationships/notesMaster" Target="/ppt/notesMasters/notesMaster1.xml" Id="Rd0b1359cade84795" /><Relationship Type="http://schemas.openxmlformats.org/officeDocument/2006/relationships/presProps" Target="/ppt/presProps.xml" Id="R72b34d9bea034335" /><Relationship Type="http://schemas.openxmlformats.org/officeDocument/2006/relationships/tableStyles" Target="/ppt/tableStyles.xml" Id="Ra9c46df5f6b94a77" /><Relationship Type="http://schemas.openxmlformats.org/officeDocument/2006/relationships/slide" Target="/ppt/slides/slide1.xml" Id="R6c75fe2851b8494b" /><Relationship Type="http://schemas.openxmlformats.org/officeDocument/2006/relationships/slide" Target="/ppt/slides/slide2.xml" Id="R9c28cfc664414c64" /><Relationship Type="http://schemas.openxmlformats.org/officeDocument/2006/relationships/slide" Target="/ppt/slides/slide3.xml" Id="Rc55eef00e513478b" /><Relationship Type="http://schemas.openxmlformats.org/officeDocument/2006/relationships/slide" Target="/ppt/slides/slide4.xml" Id="R19b160a0659c4ddb" /><Relationship Type="http://schemas.openxmlformats.org/officeDocument/2006/relationships/slide" Target="/ppt/slides/slide5.xml" Id="Rf895b678252d49df" /><Relationship Type="http://schemas.openxmlformats.org/officeDocument/2006/relationships/slide" Target="/ppt/slides/slide6.xml" Id="Rc5438ea2e49948d3" /><Relationship Type="http://schemas.openxmlformats.org/officeDocument/2006/relationships/slide" Target="/ppt/slides/slide7.xml" Id="Rc1a1dca62a904df9" /><Relationship Type="http://schemas.openxmlformats.org/officeDocument/2006/relationships/slide" Target="/ppt/slides/slide8.xml" Id="Rf57e60700955447c" /><Relationship Type="http://schemas.openxmlformats.org/officeDocument/2006/relationships/slide" Target="/ppt/slides/slide9.xml" Id="R71e4c5e5991544de" /><Relationship Type="http://schemas.openxmlformats.org/officeDocument/2006/relationships/slide" Target="/ppt/slides/slide10.xml" Id="R160ee81ed7e34a2f" /><Relationship Type="http://schemas.openxmlformats.org/officeDocument/2006/relationships/slide" Target="/ppt/slides/slide11.xml" Id="Ra17718cc5cdd47b0" /><Relationship Type="http://schemas.openxmlformats.org/officeDocument/2006/relationships/slide" Target="/ppt/slides/slide12.xml" Id="R9037358689a542f2" /><Relationship Type="http://schemas.openxmlformats.org/officeDocument/2006/relationships/slide" Target="/ppt/slides/slide13.xml" Id="Rba34640a8fd34005" /><Relationship Type="http://schemas.openxmlformats.org/officeDocument/2006/relationships/slide" Target="/ppt/slides/slide14.xml" Id="R82bfc1f0674d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10620c6cf44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23fcc33b64fb4" /><Relationship Type="http://schemas.openxmlformats.org/officeDocument/2006/relationships/notesMaster" Target="/ppt/notesMasters/notesMaster1.xml" Id="R66e64fbaf41f41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57c4a32f14050" /><Relationship Type="http://schemas.openxmlformats.org/officeDocument/2006/relationships/notesMaster" Target="/ppt/notesMasters/notesMaster1.xml" Id="Rf254e5d8576f41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a0605dad2f4e97" /><Relationship Type="http://schemas.openxmlformats.org/officeDocument/2006/relationships/notesMaster" Target="/ppt/notesMasters/notesMaster1.xml" Id="R652ecc39a413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78ac53678456f" /><Relationship Type="http://schemas.openxmlformats.org/officeDocument/2006/relationships/notesMaster" Target="/ppt/notesMasters/notesMaster1.xml" Id="R68ec3a0bb30742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04de4e93334767" /><Relationship Type="http://schemas.openxmlformats.org/officeDocument/2006/relationships/notesMaster" Target="/ppt/notesMasters/notesMaster1.xml" Id="Rcd241585228c42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4d4580998741ab" /><Relationship Type="http://schemas.openxmlformats.org/officeDocument/2006/relationships/notesMaster" Target="/ppt/notesMasters/notesMaster1.xml" Id="R989330a72dec43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ec27b6331b47e9" /><Relationship Type="http://schemas.openxmlformats.org/officeDocument/2006/relationships/notesMaster" Target="/ppt/notesMasters/notesMaster1.xml" Id="Ra73dc2349b8440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7086fb29424487" /><Relationship Type="http://schemas.openxmlformats.org/officeDocument/2006/relationships/notesMaster" Target="/ppt/notesMasters/notesMaster1.xml" Id="Rf1bcca785eea45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781f9e66604d5c" /><Relationship Type="http://schemas.openxmlformats.org/officeDocument/2006/relationships/notesMaster" Target="/ppt/notesMasters/notesMaster1.xml" Id="Red04befd062d46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4543438b0142f7" /><Relationship Type="http://schemas.openxmlformats.org/officeDocument/2006/relationships/notesMaster" Target="/ppt/notesMasters/notesMaster1.xml" Id="R74b2e4e767d64e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d48958f8dd4aa1" /><Relationship Type="http://schemas.openxmlformats.org/officeDocument/2006/relationships/notesMaster" Target="/ppt/notesMasters/notesMaster1.xml" Id="R5bb19b52a8ab49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7028f425e641b8" /><Relationship Type="http://schemas.openxmlformats.org/officeDocument/2006/relationships/notesMaster" Target="/ppt/notesMasters/notesMaster1.xml" Id="Rce4817d37bf449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48e3fc91064b4c" /><Relationship Type="http://schemas.openxmlformats.org/officeDocument/2006/relationships/notesMaster" Target="/ppt/notesMasters/notesMaster1.xml" Id="Rdbfecfab02f741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60b6231a754027" /><Relationship Type="http://schemas.openxmlformats.org/officeDocument/2006/relationships/notesMaster" Target="/ppt/notesMasters/notesMaster1.xml" Id="R35df68a7a6aa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JoyHouse 的长期愿景不止是帮助一个人经营公司，也包括职业发展与个人成长。产品首先从 OPC 和知识工作者切入，但最终维护的是用户自己的事业与人生长期状态。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 1</a:t>
            </a:r>
          </a:p>
          <a:p xmlns:a="http://schemas.openxmlformats.org/drawingml/2006/main">
            <a:r>
              <a:t>- Internal: /Users/joyhouse/workspace/joyhouse/README.md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 与知识工作者的事业、知识、关系、声誉和个人能力高度交织。现有工具分别保存文档、任务或对话，却很少维护一个人的长期事实与完整循环。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1-3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执行能力正在快速增强。市场缺口不再是另一个执行者，而是围绕用户持续整合自我（目标、判断与边界）、资源（资料、关系、项目、机会与工具）和智能（Agent、模型与 App）。三者形成长期状态，执行结果才可以持续积累。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official Follow a goal: https://learn.chatgpt.com/use-cases/follow-goals</a:t>
            </a:r>
          </a:p>
          <a:p xmlns:a="http://schemas.openxmlformats.org/drawingml/2006/main">
            <a:r>
              <a:t>- OpenAI official Project teammate: https://learn.chatgpt.com/use-cases/project-teammate</a:t>
            </a:r>
          </a:p>
          <a:p xmlns:a="http://schemas.openxmlformats.org/drawingml/2006/main">
            <a:r>
              <a:t>- OpenAI official Work chief of staff: https://learn.chatgpt.com/use-cases/daily-work-brief</a:t>
            </a:r>
          </a:p>
          <a:p xmlns:a="http://schemas.openxmlformats.org/drawingml/2006/main">
            <a:r>
              <a:t>- Internal: /Users/joyhouse/workspace/joyhouse/docs/PRODUCT_REDESIGN_PLAN.md section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JoyHouse 的一级结构来自用户现实：今天、事业、书房、成长和成果。App 从这些对象与上下文被调用；JOY 负责识别、澄清和协调，不是一个空聊天首页。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2 and 6</a:t>
            </a:r>
          </a:p>
          <a:p xmlns:a="http://schemas.openxmlformats.org/drawingml/2006/main">
            <a:r>
              <a:t>- Internal product asset preserved from the source deck: joyhouse-library.png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事业与人生不是同一个优化目标，但可以共享记录、理解、目标、行动、证据和复盘机制。商业结果强调可归因增长，个人成长由用户定义方向和认可改变。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 and 3</a:t>
            </a:r>
          </a:p>
          <a:p xmlns:a="http://schemas.openxmlformats.org/drawingml/2006/main">
            <a:r>
              <a:t>- Internal product asset preserved from the source deck: extension-sidepanel.png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市场进入仍聚焦 OPC 和知识工作者，因为商业与职业结果更容易验证价值和付费意愿。个人成长使用同一事实与复盘底座逐步展开，MVP 不以全能人生助手进入市场。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 1.1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用户主权位于四层之上：价值、方向、边界、授权与最终决定不能由 Agent 接管。JoyhouseBot 把持久执行、恢复、审批、权限、审计和 Artifact/Work 作为独立开源基础设施提供。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 and 8</a:t>
            </a:r>
          </a:p>
          <a:p xmlns:a="http://schemas.openxmlformats.org/drawingml/2006/main">
            <a:r>
              <a:t>- Internal: /Users/joyhouse/workspace/joyhousebot/README.md</a:t>
            </a:r>
          </a:p>
          <a:p xmlns:a="http://schemas.openxmlformats.org/drawingml/2006/main">
            <a:r>
              <a:t>- Internal: /Users/joyhouse/workspace/joyhousebot/docs/ARCHITECTURE.md</a:t>
            </a:r>
          </a:p>
          <a:p xmlns:a="http://schemas.openxmlformats.org/drawingml/2006/main">
            <a:r>
              <a:t>- Internal product asset preserved from the source deck: intelligent-work-center-replay.png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真正的进化来自长期状态闭环：现实输入被结构化为洞察、机会、问题和关系；目标与计划产生行动；执行结果回流事实、证据、指标与 Review；Review 再提出新的 Plan Revision。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3-4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竞争比较采用中心对象而不是功能清单。Codex/ChatGPT Work 已经覆盖长程目标、定时任务、连接器和项目伙伴，所以 JoyHouse 不以长程执行本身作为唯一差异，而以用户自有事实、业务状态、复盘与可替换执行层为中心。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official Follow a goal: https://learn.chatgpt.com/use-cases/follow-goals</a:t>
            </a:r>
          </a:p>
          <a:p xmlns:a="http://schemas.openxmlformats.org/drawingml/2006/main">
            <a:r>
              <a:t>- OpenAI official Project teammate: https://learn.chatgpt.com/use-cases/project-teammate</a:t>
            </a:r>
          </a:p>
          <a:p xmlns:a="http://schemas.openxmlformats.org/drawingml/2006/main">
            <a:r>
              <a:t>- OpenAI official Work chief of staff: https://learn.chatgpt.com/use-cases/daily-work-brief</a:t>
            </a:r>
          </a:p>
          <a:p xmlns:a="http://schemas.openxmlformats.org/drawingml/2006/main">
            <a:r>
              <a:t>- Obsidian official privacy and local data model: https://obsidian.md/privacy</a:t>
            </a:r>
          </a:p>
          <a:p xmlns:a="http://schemas.openxmlformats.org/drawingml/2006/main">
            <a:r>
              <a:t>- Dify official plugin documentation: https://docs.dify.ai/en/develop-plugin/getting-started/choose-plugin-type</a:t>
            </a:r>
          </a:p>
          <a:p xmlns:a="http://schemas.openxmlformats.org/drawingml/2006/main">
            <a:r>
              <a:t>- Coze Studio official repository: https://github.com/coze-dev/coze-studio</a:t>
            </a:r>
          </a:p>
          <a:p xmlns:a="http://schemas.openxmlformats.org/drawingml/2006/main">
            <a:r>
              <a:t>- WordPress official overview: https://wordpress.org/about/</a:t>
            </a:r>
          </a:p>
          <a:p xmlns:a="http://schemas.openxmlformats.org/drawingml/2006/main">
            <a:r>
              <a:t>- WordPress official plugin documentation: https://wordpress.org/documentation/article/introduction-to-plugins/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 Runtime 不是放弃商业价值，而是把持久执行变成可信、可私有部署、可扩展的公共底座。JoyHouse 的价值来自个人长期事实模型、经营与成长体验、官方 App、跨 App 复盘、Cloud 和 Market。私人数据不进入市场分发链。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 and 8</a:t>
            </a:r>
          </a:p>
          <a:p xmlns:a="http://schemas.openxmlformats.org/drawingml/2006/main">
            <a:r>
              <a:t>- Internal: /Users/joyhouse/workspace/joyhousebot/docs/CORE_AND_EXTENSIONS.md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GTM 不从全能人生助手或大而全平台开始。Extension 和 Desktop 进入用户现场，Market Opportunity Radar 证明从信号到机会、行动、结果和复盘的商业价值，再扩展内容、客户、职业与个人成长 App。底部数据表示邻近扩张空间，不是首期 TAM。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1.1, 5 and 10</a:t>
            </a:r>
          </a:p>
          <a:p xmlns:a="http://schemas.openxmlformats.org/drawingml/2006/main">
            <a:r>
              <a:t>- SAMR, 1.27亿 individual businesses as of May 2025: https://www.samr.gov.cn/xw/zj/art/2025/art_df18bebb1c894e7db8bbb113145b2b7c.html</a:t>
            </a:r>
          </a:p>
          <a:p xmlns:a="http://schemas.openxmlformats.org/drawingml/2006/main">
            <a:r>
              <a:t>- 63.487 million registered SMEs as of Sep 2025: https://www.zyshgzb.gov.cn/n1/2025/1111/c461281-40601196.html</a:t>
            </a:r>
          </a:p>
          <a:p xmlns:a="http://schemas.openxmlformats.org/drawingml/2006/main">
            <a:r>
              <a:t>- MIIT SME AI application scenarios: https://www.miit.gov.cn/jgsj/qyj/wjfb/art/2025/art_88cf3f9631d948af960e64f1179d2f84.html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商业模式不依赖关闭 JoyhouseBot Runtime。JoyHouse Pro 提供长期数据与跨端体验；完整 App 和 Task Pack 提供领域价值；Cloud 和 Market 提供托管、同步、授权、更新与交易。定价与留存仍需通过首个商业闭环验证。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1.1 and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JoyhouseBot 已实现 PostgreSQL-first 的 Run/Task 状态机、Schedule、Approval、Lease/Fencing、回放、Artifact/Work 和治理控制台，并作为独立开源 Runtime 演进。JoyHouse 产品仓库正在补齐 Source、Goal、Plan、Action、Metric、Review、Handoff 与真实 App 闭环。这里展示现有 Runtime 界面，不冒充用户增长数据。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/Users/joyhouse/workspace/joyhousebot/README.md</a:t>
            </a:r>
          </a:p>
          <a:p xmlns:a="http://schemas.openxmlformats.org/drawingml/2006/main">
            <a:r>
              <a:t>- Internal: /Users/joyhouse/workspace/joyhousebot/docs/ARCHITECTURE.md</a:t>
            </a:r>
          </a:p>
          <a:p xmlns:a="http://schemas.openxmlformats.org/drawingml/2006/main">
            <a:r>
              <a:t>- Internal: /Users/joyhouse/workspace/joyhouse/README.md</a:t>
            </a:r>
          </a:p>
          <a:p xmlns:a="http://schemas.openxmlformats.org/drawingml/2006/main">
            <a:r>
              <a:t>- Internal: /Users/joyhouse/workspace/joyhouse/docs/PRODUCT_REDESIGN_PLAN.md sections 4 and 9-10</a:t>
            </a:r>
          </a:p>
          <a:p xmlns:a="http://schemas.openxmlformats.org/drawingml/2006/main">
            <a:r>
              <a:t>- Internal product assets preserved from the source deck: intelligent-work-center-search.png and intelligent-work-center-replay.png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本轮资金完成的不是给 Runtime 增加一个漂亮界面，而是把用户长期事实、事业与成长双循环、首个真实 App 和开源 Runtime 生态组成可验证产品。硬件仍是未来物理世界入口，不属于当前交付承诺。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/Users/joyhouse/workspace/joyhouse/docs/PRODUCT_REDESIGN_PLAN.md sections 10-11</a:t>
            </a:r>
          </a:p>
          <a:p xmlns:a="http://schemas.openxmlformats.org/drawingml/2006/main">
            <a:r>
              <a:t>- Internal concept asset preserved from the source deck: joyhousebot-hardware-concept-v1.png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4aaf5a6bd49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39fd67b724b2a" /><Relationship Type="http://schemas.openxmlformats.org/officeDocument/2006/relationships/slideLayout" Target="/ppt/slideLayouts/slideLayout1.xml" Id="Refcc46f6fc8c4e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cc46f6fc8c4e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6623e21174f37" /><Relationship Type="http://schemas.openxmlformats.org/officeDocument/2006/relationships/notesSlide" Target="/ppt/notesSlides/notesSlide1.xml" Id="R7b9463fc2866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1a391612649a8" /><Relationship Type="http://schemas.openxmlformats.org/officeDocument/2006/relationships/notesSlide" Target="/ppt/notesSlides/notesSlide2.xml" Id="R27bf362b062c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abe222f414eed" /><Relationship Type="http://schemas.openxmlformats.org/officeDocument/2006/relationships/notesSlide" Target="/ppt/notesSlides/notesSlide3.xml" Id="R16aa53651ac749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033ad05384d34" /><Relationship Type="http://schemas.openxmlformats.org/officeDocument/2006/relationships/image" Target="/ppt/media/image.png" Id="Rbc3bf2afdf9340fb" /><Relationship Type="http://schemas.openxmlformats.org/officeDocument/2006/relationships/notesSlide" Target="/ppt/notesSlides/notesSlide4.xml" Id="R1391a964cf534b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6570396ee47ca" /><Relationship Type="http://schemas.openxmlformats.org/officeDocument/2006/relationships/image" Target="/ppt/media/image2.png" Id="R7915f1f87aa64419" /><Relationship Type="http://schemas.openxmlformats.org/officeDocument/2006/relationships/notesSlide" Target="/ppt/notesSlides/notesSlide5.xml" Id="R1022f9842f724d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d1630ff8449f" /><Relationship Type="http://schemas.openxmlformats.org/officeDocument/2006/relationships/notesSlide" Target="/ppt/notesSlides/notesSlide6.xml" Id="R72322f292ac241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2db1e08be46f2" /><Relationship Type="http://schemas.openxmlformats.org/officeDocument/2006/relationships/image" Target="/ppt/media/image3.png" Id="Re53707e7d5564c8e" /><Relationship Type="http://schemas.openxmlformats.org/officeDocument/2006/relationships/notesSlide" Target="/ppt/notesSlides/notesSlide7.xml" Id="R614b0f48304043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7b84e742343c4" /><Relationship Type="http://schemas.openxmlformats.org/officeDocument/2006/relationships/notesSlide" Target="/ppt/notesSlides/notesSlide8.xml" Id="Re1ad3a3c8a3a4e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7bd7002344a5d" /><Relationship Type="http://schemas.openxmlformats.org/officeDocument/2006/relationships/notesSlide" Target="/ppt/notesSlides/notesSlide9.xml" Id="Rb853815a0c9a4c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90fa278b34427" /><Relationship Type="http://schemas.openxmlformats.org/officeDocument/2006/relationships/notesSlide" Target="/ppt/notesSlides/notesSlide10.xml" Id="Rcaf2545d3b7c44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d954de6b04b35" /><Relationship Type="http://schemas.openxmlformats.org/officeDocument/2006/relationships/notesSlide" Target="/ppt/notesSlides/notesSlide11.xml" Id="R0e1ea04b0a8646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f760d419944df" /><Relationship Type="http://schemas.openxmlformats.org/officeDocument/2006/relationships/notesSlide" Target="/ppt/notesSlides/notesSlide12.xml" Id="R465d6ca29d9847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4edf83d014a29" /><Relationship Type="http://schemas.openxmlformats.org/officeDocument/2006/relationships/image" Target="/ppt/media/image4.png" Id="Rfd794b12867949de" /><Relationship Type="http://schemas.openxmlformats.org/officeDocument/2006/relationships/image" Target="/ppt/media/image5.png" Id="Ra87d8c7c876940ec" /><Relationship Type="http://schemas.openxmlformats.org/officeDocument/2006/relationships/notesSlide" Target="/ppt/notesSlides/notesSlide13.xml" Id="R1005beed1e834d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3d2b0547a4bdd" /><Relationship Type="http://schemas.openxmlformats.org/officeDocument/2006/relationships/image" Target="/ppt/media/image6.png" Id="Rc56bc82690e545ea" /><Relationship Type="http://schemas.openxmlformats.org/officeDocument/2006/relationships/notesSlide" Target="/ppt/notesSlides/notesSlide14.xml" Id="R5fcbfd870fe843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73B92A4B-901F-4447-9FEE-5C4D4953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71DB753-3ECB-4702-AF83-A7ADC5E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952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 + 智能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一个人的事业与人生系统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DE990D1-2425-4C63-806B-19ED6AD1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8DCA4F-6D56-48CC-B292-6C462760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 OPC 和知识工作者打造的用户自有个人智能系统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EA28F1A-9FF5-423C-BC57-8278FF69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融资沟通稿 · 2026</a:t>
            </a:r>
          </a:p>
        </p:txBody>
      </p:sp>
    </p:spTree>
    <p:extLst>
      <p:ext uri="{BB962C8B-B14F-4D97-AF65-F5344CB8AC3E}">
        <p14:creationId xmlns:p14="http://schemas.microsoft.com/office/powerpoint/2010/main" val="492599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FE7E0D1D-B81E-4DC8-B5C9-2609912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INSIGHT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D130EE-556E-40AB-A893-7D7492F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一个人经营事业与人生，却没有自己的长期系统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CD6BBC1-C17F-486C-AE34-7BC0C35D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C8FC887-C496-4930-BCCA-0747FB53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17C2CCB-8283-4EF5-9F31-45D1817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OPC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2210CDD-489C-478F-A358-B3D7F07B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是组织形态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10EF77F-DD10-4463-A613-EE16849C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研究、销售、交付、运营、财务，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都压在同一个人的上下文里。</a:t>
            </a:r>
          </a:p>
        </p:txBody>
      </p:sp>
      <p:cxnSp>
        <p:nvCxnSpPr>
          <p:cNvPr id="69" name="line-8"/>
          <p:cNvCxnSpPr/>
          <p:nvPr/>
        </p:nvCxnSpPr>
        <p:spPr>
          <a:xfrm xmlns:a="http://schemas.openxmlformats.org/drawingml/2006/main">
            <a:off x="5314950" y="173355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7DDDF55-2935-4A2A-AA00-232AB1B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知识工作者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A6A391C-49BE-41D7-9FE5-4CF6851D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是首批高频用户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93AFE00F-13F7-4728-8646-7E136FD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信息密度高、任务跨工具、成果要复用；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价值来自判断，而不是机械重复。</a:t>
            </a:r>
          </a:p>
        </p:txBody>
      </p:sp>
      <p:sp>
        <p:nvSpPr>
          <p:cNvPr id="12" name="quote-band">
            <a:extLst xmlns:a="http://schemas.openxmlformats.org/drawingml/2006/main">
              <a:ext uri="{FF2B5EF4-FFF2-40B4-BE49-F238E27FC236}">
                <a16:creationId xmlns:a16="http://schemas.microsoft.com/office/drawing/2014/main" id="{3082821A-BF69-4CE6-82E6-02970A1C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444757BE-D3B4-40E9-9CCF-3535CE26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事业需要持续增长，人生需要持续成长。</a:t>
            </a:r>
          </a:p>
        </p:txBody>
      </p:sp>
    </p:spTree>
    <p:extLst>
      <p:ext uri="{BB962C8B-B14F-4D97-AF65-F5344CB8AC3E}">
        <p14:creationId xmlns:p14="http://schemas.microsoft.com/office/powerpoint/2010/main" val="19546697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D34303DE-BFE4-4AA9-B129-211EC42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7F32CF-BCBA-44CB-98BF-168B3808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越来越会执行，但人的自我、资源与智能仍然彼此割裂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E2B6CF1-CA75-43FC-A4C1-C567E6C7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5BE622-88E8-4E7C-9780-B958763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EF413B8-3D16-4C39-BA21-6718D187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6B4160F-2322-4FDB-ADB3-48019C68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自我没有沉淀</a:t>
            </a:r>
          </a:p>
        </p:txBody>
      </p:sp>
      <p:cxnSp>
        <p:nvCxnSpPr>
          <p:cNvPr id="114" name="line-7"/>
          <p:cNvCxnSpPr/>
          <p:nvPr/>
        </p:nvCxnSpPr>
        <p:spPr>
          <a:xfrm xmlns:a="http://schemas.openxmlformats.org/drawingml/2006/main">
            <a:off x="400050" y="32861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D10FC9A-33F4-4D02-9A0A-22EE60F9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目标、判断与边界散落在
头脑和对话中，无法形成
持续演进的自我。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210EF7E2-AF8B-4198-BDA9-0B9BA88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65340CA9-F8AB-41E4-8C80-2570B58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资源没有连接</a:t>
            </a:r>
          </a:p>
        </p:txBody>
      </p:sp>
      <p:cxnSp>
        <p:nvCxnSpPr>
          <p:cNvPr id="118" name="line-11"/>
          <p:cNvCxnSpPr/>
          <p:nvPr/>
        </p:nvCxnSpPr>
        <p:spPr>
          <a:xfrm xmlns:a="http://schemas.openxmlformats.org/drawingml/2006/main">
            <a:off x="4305300" y="32861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57F7"/>
            </a:solidFill>
            <a:prstDash val="solid"/>
          </a:ln>
        </p:spPr>
      </p:cxn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0F5B0FD-EFD5-4141-9C7A-06A6C0A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资料、关系、项目和机会
分散在不同系统中，无法
形成统一事实源。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2E1E71E-01B2-4068-A976-1FA8B72A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F075444-20E7-45E3-BF7A-D51791D4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智能没有整合</a:t>
            </a:r>
          </a:p>
        </p:txBody>
      </p:sp>
      <p:cxnSp>
        <p:nvCxnSpPr>
          <p:cNvPr id="122" name="line-15"/>
          <p:cNvCxnSpPr/>
          <p:nvPr/>
        </p:nvCxnSpPr>
        <p:spPr>
          <a:xfrm xmlns:a="http://schemas.openxmlformats.org/drawingml/2006/main">
            <a:off x="8210550" y="32861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8439B917-CDCC-441A-99DE-9210E155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Agent、模型与 App 各自工作，
没有围绕同一个人持续
协同、行动与积累。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9A205323-92E6-450E-80CD-0373B001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真正缺少的不是万能 Agent，而是持续整合自我、资源与智能能力的个人智能系统。</a:t>
            </a:r>
          </a:p>
        </p:txBody>
      </p:sp>
    </p:spTree>
    <p:extLst>
      <p:ext uri="{BB962C8B-B14F-4D97-AF65-F5344CB8AC3E}">
        <p14:creationId xmlns:p14="http://schemas.microsoft.com/office/powerpoint/2010/main" val="1162662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F456D08-9155-4E0F-AD8A-788A1982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PRODUCT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23B41D-6F1F-40AB-AC71-92E3CEFD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 是用户与所有 Agent 共同工作的个人智能系统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272FA38-A2D3-4D4C-96BC-38F370B3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8CDF7E8-9054-4A18-B179-759E5631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07B926E-D0BC-4B2E-BD7B-CBD9008C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USER-OWNED · DATA-FIRST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20EDA31-4C9D-4BB5-8A26-BA388DDE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今天 / 事业 / 书房
成长 / 成果 / App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576A54C-7FBA-4956-A2B5-CCBEFF0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先沉淀属于用户的长期事实，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再让 Agent 在明确边界内行动。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EAEE36A-3195-44B8-A369-BE5ADC0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 是全局协调入口，不是产品本体。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执行者可替换，用户状态不随会话丢失。</a:t>
            </a:r>
          </a:p>
        </p:txBody>
      </p:sp>
      <p:sp>
        <p:nvSpPr>
          <p:cNvPr id="9" name="joyhouse-library-back">
            <a:extLst xmlns:a="http://schemas.openxmlformats.org/drawingml/2006/main">
              <a:ext uri="{FF2B5EF4-FFF2-40B4-BE49-F238E27FC236}">
                <a16:creationId xmlns:a16="http://schemas.microsoft.com/office/drawing/2014/main" id="{79EA85A3-96EF-4B6C-B849-4BC21BF5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56197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bf2afdf9340fb"/>
          <a:srcRect xmlns:a="http://schemas.openxmlformats.org/drawingml/2006/main" l="0" t="2714" r="0" b="2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562100"/>
            <a:ext cx="56197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155924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">
            <a:extLst xmlns:a="http://schemas.openxmlformats.org/drawingml/2006/main">
              <a:ext uri="{FF2B5EF4-FFF2-40B4-BE49-F238E27FC236}">
                <a16:creationId xmlns:a16="http://schemas.microsoft.com/office/drawing/2014/main" id="{D23C5B73-529E-4720-967B-578541D9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EXPERIENCE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A1A08C-9FA4-474F-9181-1060CE0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同一事实底座，让事业增长与人生成长形成闭环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57F642E-14FA-4C5E-89BC-182D4A45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655C1E6-E01B-4BC3-8ACF-04084090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extension-back">
            <a:extLst xmlns:a="http://schemas.openxmlformats.org/drawingml/2006/main">
              <a:ext uri="{FF2B5EF4-FFF2-40B4-BE49-F238E27FC236}">
                <a16:creationId xmlns:a16="http://schemas.microsoft.com/office/drawing/2014/main" id="{71259134-3D3D-46D5-B6B7-7E233830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143125" cy="4476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5f1f87aa64419"/>
          <a:srcRect xmlns:a="http://schemas.openxmlformats.org/drawingml/2006/main" l="5315" t="0" r="5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62100"/>
            <a:ext cx="2143125" cy="44767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93BBB67-4464-4D04-927C-78DBEB6C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3C6F609-F057-49F1-9104-446F6B2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657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记录现实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8A2F500-ECEA-449B-B33E-614D19F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955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资料、交谈、经历与当前状态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8C3A853-683E-44CE-85C4-B8C466B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955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12C243F-349F-4C16-9027-EA94065B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03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2DBED74-8D8A-471C-96F5-A4790538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81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形成判断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5BDF3F0-46D6-4A9A-82E1-18023612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19475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识别机会、问题、关系与洞察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838EE83-CFC3-4BE3-B560-3490CF70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95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68113853-B432-42AD-AFAC-5FB9326B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24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C9A1A666-6473-4ACE-9B9B-29ED52D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05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确认方向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353A6D8F-9582-4101-AB39-A9A69C42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4345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目标、计划、指标与停止条件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4CCD36F0-9DF2-4825-9A73-660FB2A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810BDA26-82E9-4DB4-974D-18893E6F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持续行动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DD8C743A-8BE9-4D0D-92A7-8E9C0D9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本人行动或 Runtime 按节奏推进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CD70EE6-E90B-4E0A-921E-7636B84F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95550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F57BA282-5D28-4026-B0E8-4D85D70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03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08993C2D-FF1F-4A62-95FD-3D45552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积累证据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E3D104CB-3425-45D0-9373-7C48D791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19475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结果、反馈、指标与成果版本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8D069914-74C3-4EFC-9709-743F4A6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95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6" name="text-25">
            <a:extLst xmlns:a="http://schemas.openxmlformats.org/drawingml/2006/main">
              <a:ext uri="{FF2B5EF4-FFF2-40B4-BE49-F238E27FC236}">
                <a16:creationId xmlns:a16="http://schemas.microsoft.com/office/drawing/2014/main" id="{D3897D7B-82B8-4E4A-8BED-E7E25100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24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22283F6D-FC5F-4BB0-AC39-A9CD3FF9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复盘成长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7A235148-C466-43BF-BEF3-9E00DE5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3257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调整计划并沉淀方法与能力</a:t>
            </a:r>
          </a:p>
        </p:txBody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D8C0A93E-80FA-400E-96F8-C83D678B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823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商业追求可归因增长；人生追求用户认可的改变。</a:t>
            </a:r>
          </a:p>
        </p:txBody>
      </p:sp>
    </p:spTree>
    <p:extLst>
      <p:ext uri="{BB962C8B-B14F-4D97-AF65-F5344CB8AC3E}">
        <p14:creationId xmlns:p14="http://schemas.microsoft.com/office/powerpoint/2010/main" val="982985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B14B4FC2-3E99-4EC8-B57D-5C02B19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BEACHHEAD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164BB1-1B67-4655-9444-1FD61E10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先服务 OPC 和知识工作者，再延展完整人生系统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B184988-DBB1-46DD-8C51-B9B510AC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9A03D8-B0C5-471E-837A-51E78FC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3C1612F-BE1F-4C5C-BA4A-E2F50CF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20A6148-5F83-4B68-AC3D-1F999DF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商业增长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2C9C263-4A6C-4B61-90C9-2C780B6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发现机会、获得客户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推进成交与收入</a:t>
            </a:r>
          </a:p>
        </p:txBody>
      </p:sp>
      <p:cxnSp>
        <p:nvCxnSpPr>
          <p:cNvPr id="137" name="line-8"/>
          <p:cNvCxnSpPr/>
          <p:nvPr/>
        </p:nvCxnSpPr>
        <p:spPr>
          <a:xfrm xmlns:a="http://schemas.openxmlformats.org/drawingml/2006/main">
            <a:off x="400050" y="43434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DE18F18-B445-410A-AE56-5A58FF0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市场判断 · 客户关系 · 经营证据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08E84E07-CC08-4A0B-B025-12DB106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71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F3C9719-6296-4520-AF2D-6BEEFC5D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职业发展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676078C-040B-4EDE-9D07-30F42A25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积累能力与影响力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获得项目和职业机会</a:t>
            </a:r>
          </a:p>
        </p:txBody>
      </p:sp>
      <p:cxnSp>
        <p:nvCxnSpPr>
          <p:cNvPr id="142" name="line-13"/>
          <p:cNvCxnSpPr/>
          <p:nvPr/>
        </p:nvCxnSpPr>
        <p:spPr>
          <a:xfrm xmlns:a="http://schemas.openxmlformats.org/drawingml/2006/main">
            <a:off x="4305300" y="43434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117F722-BDE9-4374-9BA0-0B10040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反馈 · 作品 · 能力证据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751A6C5C-1955-4E33-A5B8-B7D454F3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8B2CA23-AFBC-482D-AEC2-D60E8338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人生成长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46E23A6B-7CD1-4F88-A228-0BE86FAC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3257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理解问题、验证方案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持续改善生活状态</a:t>
            </a:r>
          </a:p>
        </p:txBody>
      </p:sp>
      <p:cxnSp>
        <p:nvCxnSpPr>
          <p:cNvPr id="147" name="line-18"/>
          <p:cNvCxnSpPr/>
          <p:nvPr/>
        </p:nvCxnSpPr>
        <p:spPr>
          <a:xfrm xmlns:a="http://schemas.openxmlformats.org/drawingml/2006/main">
            <a:off x="8210550" y="434340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E21B0346-781F-469D-9B27-E8E02C5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经历 · 反思 · 关系 · 人生作品</a:t>
            </a:r>
          </a:p>
        </p:txBody>
      </p:sp>
      <p:sp>
        <p:nvSpPr>
          <p:cNvPr id="20" name="jobs-band">
            <a:extLst xmlns:a="http://schemas.openxmlformats.org/drawingml/2006/main">
              <a:ext uri="{FF2B5EF4-FFF2-40B4-BE49-F238E27FC236}">
                <a16:creationId xmlns:a16="http://schemas.microsoft.com/office/drawing/2014/main" id="{4316F1EA-2B66-499A-9ED6-6D671DED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B88A30B5-742A-46AC-86F7-243FCBF5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三类结果共享记录—理解—目标—行动—复盘，不做三套产品。</a:t>
            </a:r>
          </a:p>
        </p:txBody>
      </p:sp>
    </p:spTree>
    <p:extLst>
      <p:ext uri="{BB962C8B-B14F-4D97-AF65-F5344CB8AC3E}">
        <p14:creationId xmlns:p14="http://schemas.microsoft.com/office/powerpoint/2010/main" val="1041837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E00CFBCF-18FC-441C-AA64-BD691DA7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17DB19-3268-41A4-87C7-18AA929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 维护长期状态，JoyhouseBot 开源执行内核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7127CEF-139D-4735-AFE5-EE19CC90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674690A-94A3-4050-AC96-FCB8437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633B74F-8C76-4710-9805-372147D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USER SOVEREIGNTY · OPEN EXECUTION RUNTIME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0633FC0-6FFD-4969-95AB-263E7BF7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长期事实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562CFC7-7382-4B16-8815-3626DBD0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资料、关系、目标、计划、判断、经历、证据与成果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A1C1C8C-955C-4453-A2C1-062C84EF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持续机制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7B43DB5-DA12-45F7-99E1-DB634B60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Action、Routine、指标、确认点、Review 与 Plan Revision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5C33C18-F9FC-4B70-9D54-0271D40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完整 App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F83424A-257C-48B2-BF2D-EA36DEE9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766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机会、内容、客户、职业与成长的领域数据和专用界面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C36863F-5494-495E-B8F4-AB58E7FC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开源执行层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3E696B6-0E55-446C-B471-7708321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JoyhouseBot + 可替换 Agent / Model / Skill / Connector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C6081BA6-DFBC-4DF4-B826-77346F6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Agent 负责执行 · Runtime 负责可靠运行 · JoyHouse 负责长期状态</a:t>
            </a:r>
          </a:p>
        </p:txBody>
      </p:sp>
      <p:sp>
        <p:nvSpPr>
          <p:cNvPr id="15" name="runtime-replay-back">
            <a:extLst xmlns:a="http://schemas.openxmlformats.org/drawingml/2006/main">
              <a:ext uri="{FF2B5EF4-FFF2-40B4-BE49-F238E27FC236}">
                <a16:creationId xmlns:a16="http://schemas.microsoft.com/office/drawing/2014/main" id="{5BB6B7DE-FF68-47BF-9C62-32460C4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69595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707e7d5564c8e"/>
          <a:srcRect xmlns:a="http://schemas.openxmlformats.org/drawingml/2006/main" l="10046" t="0" r="100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562100"/>
            <a:ext cx="569595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</p:spTree>
    <p:extLst>
      <p:ext uri="{BB962C8B-B14F-4D97-AF65-F5344CB8AC3E}">
        <p14:creationId xmlns:p14="http://schemas.microsoft.com/office/powerpoint/2010/main" val="1046317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">
            <a:extLst xmlns:a="http://schemas.openxmlformats.org/drawingml/2006/main">
              <a:ext uri="{FF2B5EF4-FFF2-40B4-BE49-F238E27FC236}">
                <a16:creationId xmlns:a16="http://schemas.microsoft.com/office/drawing/2014/main" id="{4C71C2D4-4D5A-4E0E-9019-B52EFD22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B9DF4-132B-4692-994E-10B3D66F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执行结果回到用户长期事实，系统才会持续进化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8CA6D01-76BF-4564-88B2-7F9E547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023526-D75C-4B81-8A03-F35482A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CBCA7F1-16C6-4FD0-A268-4FE7ABFA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用户拥有的状态闭环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657B590-0F88-4A27-9E56-00019B0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价值 / 方向 · 边界 / 授权 · 确认 / 证据 · 审计 / 回放</a:t>
            </a:r>
          </a:p>
        </p:txBody>
      </p:sp>
      <p:sp>
        <p:nvSpPr>
          <p:cNvPr id="7" name="chain-0">
            <a:extLst xmlns:a="http://schemas.openxmlformats.org/drawingml/2006/main">
              <a:ext uri="{FF2B5EF4-FFF2-40B4-BE49-F238E27FC236}">
                <a16:creationId xmlns:a16="http://schemas.microsoft.com/office/drawing/2014/main" id="{80243862-E2E1-4C10-9AA0-4ED3E15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943BA17-C445-4E3B-880D-39BB2C59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1FCF1BE6-2EC7-4748-899A-644162AB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Source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F674CDC-E545-467A-8E93-4FFA9C1D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资料、经历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交谈与信号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91A3422-5FA9-45E7-9286-71196B00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chain-1">
            <a:extLst xmlns:a="http://schemas.openxmlformats.org/drawingml/2006/main">
              <a:ext uri="{FF2B5EF4-FFF2-40B4-BE49-F238E27FC236}">
                <a16:creationId xmlns:a16="http://schemas.microsoft.com/office/drawing/2014/main" id="{95C41B7B-3AE0-4AEC-AEFD-6D3E611F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38B125D8-7BFE-400D-8199-BB5C438F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16681CED-7A1C-410A-9897-F3781250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Insight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9AAE91A-9A7E-4EB7-9508-9B14CA6F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洞察、机会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问题与关系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80227761-DD6A-4056-BA80-671120E0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chain-2">
            <a:extLst xmlns:a="http://schemas.openxmlformats.org/drawingml/2006/main">
              <a:ext uri="{FF2B5EF4-FFF2-40B4-BE49-F238E27FC236}">
                <a16:creationId xmlns:a16="http://schemas.microsoft.com/office/drawing/2014/main" id="{5CCE7431-A8F9-4005-9995-1CB2697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517A7364-FE9D-4063-94CE-ED0F18F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2ED5B136-BDCD-445B-A846-DDF5C83B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Goal / Plan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66F75C48-E110-425B-A885-3D72253C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方向、指标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与计划版本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C74D418D-8C7C-4D36-A4D1-2A01C5D8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chain-3">
            <a:extLst xmlns:a="http://schemas.openxmlformats.org/drawingml/2006/main">
              <a:ext uri="{FF2B5EF4-FFF2-40B4-BE49-F238E27FC236}">
                <a16:creationId xmlns:a16="http://schemas.microsoft.com/office/drawing/2014/main" id="{61358593-0DC0-434E-9BC8-56939B8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6657F7"/>
            </a:solidFill>
            <a:prstDash val="solid"/>
          </a:ln>
        </p:spPr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C0C9FF05-6231-4157-8831-EA743084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52D27D96-8228-49B4-82A9-20E93A1B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Action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638AEBB3-FA27-46BE-B217-15E72480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本人行动或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持续任务恢复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57F58A28-B3A5-4870-BDD6-87D6D394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chain-4">
            <a:extLst xmlns:a="http://schemas.openxmlformats.org/drawingml/2006/main">
              <a:ext uri="{FF2B5EF4-FFF2-40B4-BE49-F238E27FC236}">
                <a16:creationId xmlns:a16="http://schemas.microsoft.com/office/drawing/2014/main" id="{2D46EB99-862A-4CDA-A3F5-3C315E4B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75D124C4-6A48-4646-A1AB-478CB616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9" name="text-29">
            <a:extLst xmlns:a="http://schemas.openxmlformats.org/drawingml/2006/main">
              <a:ext uri="{FF2B5EF4-FFF2-40B4-BE49-F238E27FC236}">
                <a16:creationId xmlns:a16="http://schemas.microsoft.com/office/drawing/2014/main" id="{BE796707-37BE-44D6-9801-76244BE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Human</a:t>
            </a:r>
          </a:p>
        </p:txBody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9BF0523A-852D-4EE0-B6DC-2BC6AAE3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判断、审批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与边界控制</a:t>
            </a:r>
          </a:p>
        </p:txBody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274FBB77-725A-42EB-85E8-D4176A38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2" name="chain-5">
            <a:extLst xmlns:a="http://schemas.openxmlformats.org/drawingml/2006/main">
              <a:ext uri="{FF2B5EF4-FFF2-40B4-BE49-F238E27FC236}">
                <a16:creationId xmlns:a16="http://schemas.microsoft.com/office/drawing/2014/main" id="{3E6CE7B1-31E3-4777-9416-578470C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E22A3812-FA5A-4EA9-BAE6-C87653C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4" name="text-34">
            <a:extLst xmlns:a="http://schemas.openxmlformats.org/drawingml/2006/main">
              <a:ext uri="{FF2B5EF4-FFF2-40B4-BE49-F238E27FC236}">
                <a16:creationId xmlns:a16="http://schemas.microsoft.com/office/drawing/2014/main" id="{7E380A2E-2C3B-4BB9-AF6E-842D633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Result</a:t>
            </a:r>
          </a:p>
        </p:txBody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DC86CBC6-B398-43A3-8E83-99C6E58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成果、反馈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指标与关系</a:t>
            </a:r>
          </a:p>
        </p:txBody>
      </p:sp>
      <p:sp>
        <p:nvSpPr>
          <p:cNvPr id="36" name="text-36">
            <a:extLst xmlns:a="http://schemas.openxmlformats.org/drawingml/2006/main">
              <a:ext uri="{FF2B5EF4-FFF2-40B4-BE49-F238E27FC236}">
                <a16:creationId xmlns:a16="http://schemas.microsoft.com/office/drawing/2014/main" id="{5EBED85B-10CF-4E2B-BF39-01A7947D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289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7" name="chain-6">
            <a:extLst xmlns:a="http://schemas.openxmlformats.org/drawingml/2006/main">
              <a:ext uri="{FF2B5EF4-FFF2-40B4-BE49-F238E27FC236}">
                <a16:creationId xmlns:a16="http://schemas.microsoft.com/office/drawing/2014/main" id="{D0E1F00C-D7F7-4C5E-BB61-5206BFA7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62200"/>
            <a:ext cx="1352550" cy="18478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8" name="text-38">
            <a:extLst xmlns:a="http://schemas.openxmlformats.org/drawingml/2006/main">
              <a:ext uri="{FF2B5EF4-FFF2-40B4-BE49-F238E27FC236}">
                <a16:creationId xmlns:a16="http://schemas.microsoft.com/office/drawing/2014/main" id="{F230826A-E834-4068-8131-09F4D0FB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622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9" name="text-39">
            <a:extLst xmlns:a="http://schemas.openxmlformats.org/drawingml/2006/main">
              <a:ext uri="{FF2B5EF4-FFF2-40B4-BE49-F238E27FC236}">
                <a16:creationId xmlns:a16="http://schemas.microsoft.com/office/drawing/2014/main" id="{77AAE562-E986-4941-83F3-1EAC588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0289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Review</a:t>
            </a:r>
          </a:p>
        </p:txBody>
      </p:sp>
      <p:sp>
        <p:nvSpPr>
          <p:cNvPr id="40" name="text-40">
            <a:extLst xmlns:a="http://schemas.openxmlformats.org/drawingml/2006/main">
              <a:ext uri="{FF2B5EF4-FFF2-40B4-BE49-F238E27FC236}">
                <a16:creationId xmlns:a16="http://schemas.microsoft.com/office/drawing/2014/main" id="{98ACB286-3C16-4C7C-9D94-F6AA013E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5623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复盘与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计划修订</a:t>
            </a:r>
          </a:p>
        </p:txBody>
      </p:sp>
      <p:sp>
        <p:nvSpPr>
          <p:cNvPr id="41" name="text-41">
            <a:extLst xmlns:a="http://schemas.openxmlformats.org/drawingml/2006/main">
              <a:ext uri="{FF2B5EF4-FFF2-40B4-BE49-F238E27FC236}">
                <a16:creationId xmlns:a16="http://schemas.microsoft.com/office/drawing/2014/main" id="{BE6F864B-61AC-449D-96B1-05AF058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可以替换，用户拥有的事实、循环与成果不能丢失。</a:t>
            </a:r>
          </a:p>
        </p:txBody>
      </p:sp>
      <p:sp>
        <p:nvSpPr>
          <p:cNvPr id="42" name="text-42">
            <a:extLst xmlns:a="http://schemas.openxmlformats.org/drawingml/2006/main">
              <a:ext uri="{FF2B5EF4-FFF2-40B4-BE49-F238E27FC236}">
                <a16:creationId xmlns:a16="http://schemas.microsoft.com/office/drawing/2014/main" id="{A10DDA67-3CE1-412F-9737-1949C1D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每次执行都更新事实、证据与计划；复利来自状态，而不是对话长度。</a:t>
            </a:r>
          </a:p>
        </p:txBody>
      </p:sp>
    </p:spTree>
    <p:extLst>
      <p:ext uri="{BB962C8B-B14F-4D97-AF65-F5344CB8AC3E}">
        <p14:creationId xmlns:p14="http://schemas.microsoft.com/office/powerpoint/2010/main" val="495969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">
            <a:extLst xmlns:a="http://schemas.openxmlformats.org/drawingml/2006/main">
              <a:ext uri="{FF2B5EF4-FFF2-40B4-BE49-F238E27FC236}">
                <a16:creationId xmlns:a16="http://schemas.microsoft.com/office/drawing/2014/main" id="{F0A44056-A20B-4E30-B6E7-06B3188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POSITIONING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C5F862-9E14-4BAF-A8A4-46A7B80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会执行，JoyHouse 负责拥有并积累用户长期状态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757A65C-46CD-4E6A-85F5-BC1EF85B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EF524A-5A90-4C3D-980B-C89C069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E141CC4-B18E-4E39-A812-15E1EEBE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7A044B1-0FE7-431D-9B03-BD93E73C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657350"/>
            <a:ext cx="2390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中心对象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EBE5A6B-1BD5-4006-8E15-CC64BFA8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657350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用户的主动作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BEEE564-DC18-4DEB-95B8-C80C6B2B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最强认知 / JoyHouse 的差异</a:t>
            </a:r>
          </a:p>
        </p:txBody>
      </p:sp>
      <p:cxnSp>
        <p:nvCxnSpPr>
          <p:cNvPr id="218" name="line-9"/>
          <p:cNvCxnSpPr/>
          <p:nvPr/>
        </p:nvCxnSpPr>
        <p:spPr>
          <a:xfrm xmlns:a="http://schemas.openxmlformats.org/drawingml/2006/main">
            <a:off x="400050" y="20669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9767935-6694-4B8F-B2FB-926032B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93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Obsidian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F86032ED-0CD9-4010-9D6F-8E7CEFAC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193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本地文件 / Vault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4C9EA79-8106-460F-B0AD-74F7FB8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193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记录、链接、管理知识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E3BE6C5-8E0D-4290-BF46-C24F23F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193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拥有自己的知识；不以长期 Agent 执行为中心</a:t>
            </a:r>
          </a:p>
        </p:txBody>
      </p:sp>
      <p:cxnSp>
        <p:nvCxnSpPr>
          <p:cNvPr id="223" name="line-14"/>
          <p:cNvCxnSpPr/>
          <p:nvPr/>
        </p:nvCxnSpPr>
        <p:spPr>
          <a:xfrm xmlns:a="http://schemas.openxmlformats.org/drawingml/2006/main">
            <a:off x="400050" y="2781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1C2CB1D0-322E-4D29-B6FF-76725B58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432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Codex / Work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836E2907-D5D7-4434-860B-5AB8D2F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432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/ Project / Schedule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FFC7E844-C8A8-47C5-B88A-4526F101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432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设定目标、连接工具、持续执行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EF52D9FA-47A5-4768-884C-EEBD3E38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432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强大的通用执行者；状态主要围绕任务与项目组织</a:t>
            </a:r>
          </a:p>
        </p:txBody>
      </p:sp>
      <p:cxnSp>
        <p:nvCxnSpPr>
          <p:cNvPr id="228" name="line-19"/>
          <p:cNvCxnSpPr/>
          <p:nvPr/>
        </p:nvCxnSpPr>
        <p:spPr>
          <a:xfrm xmlns:a="http://schemas.openxmlformats.org/drawingml/2006/main">
            <a:off x="400050" y="35052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790CD238-0EB5-4559-A968-46CA5D86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Dify / Coze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F9B246BE-CD6F-4D56-9CDB-7841158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671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App / Agent / Workflow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5408DE5E-6FA5-492F-BD74-48C6301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671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搭建、编排、发布 AI 应用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5EE58D9C-4795-404E-8BCF-181238FC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671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构建与分发应用；不承担个人长期事实源</a:t>
            </a:r>
          </a:p>
        </p:txBody>
      </p:sp>
      <p:cxnSp>
        <p:nvCxnSpPr>
          <p:cNvPr id="233" name="line-24"/>
          <p:cNvCxnSpPr/>
          <p:nvPr/>
        </p:nvCxnSpPr>
        <p:spPr>
          <a:xfrm xmlns:a="http://schemas.openxmlformats.org/drawingml/2006/main">
            <a:off x="400050" y="4229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9C98B843-E0FD-4ACD-8522-97203089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910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WordPress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00F72F91-3A94-466A-A30A-9D40B149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910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网站 / 内容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084DD686-A01B-4BBC-8D07-80BECC3F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910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安装主题插件、运营网站</a:t>
            </a:r>
          </a:p>
        </p:txBody>
      </p:sp>
      <p:sp>
        <p:nvSpPr>
          <p:cNvPr id="28" name="text-28">
            <a:extLst xmlns:a="http://schemas.openxmlformats.org/drawingml/2006/main">
              <a:ext uri="{FF2B5EF4-FFF2-40B4-BE49-F238E27FC236}">
                <a16:creationId xmlns:a16="http://schemas.microsoft.com/office/drawing/2014/main" id="{C78CF90E-40C5-490F-BC96-2257E2E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910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开源内核 + 插件生态；对象仍是网站与内容</a:t>
            </a:r>
          </a:p>
        </p:txBody>
      </p:sp>
      <p:cxnSp>
        <p:nvCxnSpPr>
          <p:cNvPr id="238" name="line-29"/>
          <p:cNvCxnSpPr/>
          <p:nvPr/>
        </p:nvCxnSpPr>
        <p:spPr>
          <a:xfrm xmlns:a="http://schemas.openxmlformats.org/drawingml/2006/main">
            <a:off x="400050" y="4953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30" name="joyhouse-row">
            <a:extLst xmlns:a="http://schemas.openxmlformats.org/drawingml/2006/main">
              <a:ext uri="{FF2B5EF4-FFF2-40B4-BE49-F238E27FC236}">
                <a16:creationId xmlns:a16="http://schemas.microsoft.com/office/drawing/2014/main" id="{D812538B-6E9B-476A-99AB-8722071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31">
            <a:extLst xmlns:a="http://schemas.openxmlformats.org/drawingml/2006/main">
              <a:ext uri="{FF2B5EF4-FFF2-40B4-BE49-F238E27FC236}">
                <a16:creationId xmlns:a16="http://schemas.microsoft.com/office/drawing/2014/main" id="{E6DFE74F-211A-447A-A4E6-5DA7F549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1492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32" name="text-32">
            <a:extLst xmlns:a="http://schemas.openxmlformats.org/drawingml/2006/main">
              <a:ext uri="{FF2B5EF4-FFF2-40B4-BE49-F238E27FC236}">
                <a16:creationId xmlns:a16="http://schemas.microsoft.com/office/drawing/2014/main" id="{7CB46E70-D092-4B86-8BB6-E304E23A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14925"/>
            <a:ext cx="239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Source / Goal / Plan / Outcome</a:t>
            </a:r>
          </a:p>
        </p:txBody>
      </p:sp>
      <p:sp>
        <p:nvSpPr>
          <p:cNvPr id="33" name="text-33">
            <a:extLst xmlns:a="http://schemas.openxmlformats.org/drawingml/2006/main">
              <a:ext uri="{FF2B5EF4-FFF2-40B4-BE49-F238E27FC236}">
                <a16:creationId xmlns:a16="http://schemas.microsoft.com/office/drawing/2014/main" id="{4D0FBAF3-9492-4317-97C3-6333518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14925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记录 → 判断 → 行动 → 复盘</a:t>
            </a:r>
          </a:p>
        </p:txBody>
      </p:sp>
      <p:sp>
        <p:nvSpPr>
          <p:cNvPr id="34" name="text-34">
            <a:extLst xmlns:a="http://schemas.openxmlformats.org/drawingml/2006/main">
              <a:ext uri="{FF2B5EF4-FFF2-40B4-BE49-F238E27FC236}">
                <a16:creationId xmlns:a16="http://schemas.microsoft.com/office/drawing/2014/main" id="{0A0CB3CD-4E26-49E4-A6B0-0294A248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149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用户拥有长期状态；Agent、模型与 Runtime 可以替换</a:t>
            </a:r>
          </a:p>
        </p:txBody>
      </p:sp>
      <p:sp>
        <p:nvSpPr>
          <p:cNvPr id="35" name="text-35">
            <a:extLst xmlns:a="http://schemas.openxmlformats.org/drawingml/2006/main">
              <a:ext uri="{FF2B5EF4-FFF2-40B4-BE49-F238E27FC236}">
                <a16:creationId xmlns:a16="http://schemas.microsoft.com/office/drawing/2014/main" id="{C0CD2EA8-BBBD-438A-BFE0-934A4A4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Obsidian 管知识；Codex 执行任务；Dify / Coze 建应用；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WordPress 运营网站；JoyHouse 经营用户长期状态。</a:t>
            </a:r>
          </a:p>
        </p:txBody>
      </p:sp>
    </p:spTree>
    <p:extLst>
      <p:ext uri="{BB962C8B-B14F-4D97-AF65-F5344CB8AC3E}">
        <p14:creationId xmlns:p14="http://schemas.microsoft.com/office/powerpoint/2010/main" val="340812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">
            <a:extLst xmlns:a="http://schemas.openxmlformats.org/drawingml/2006/main">
              <a:ext uri="{FF2B5EF4-FFF2-40B4-BE49-F238E27FC236}">
                <a16:creationId xmlns:a16="http://schemas.microsoft.com/office/drawing/2014/main" id="{9F1EDF81-B054-4623-B9BC-810AFFCA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ECOSYSTEM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D8A77A-2694-45CD-8C4E-FE5BA6FD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开源执行内核，私有数据与产品体验形成长期价值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93AB6E2-3C1F-4951-B123-D730E5D9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D774E0-0CA4-46A3-A9B5-4664A7E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private-zone">
            <a:extLst xmlns:a="http://schemas.openxmlformats.org/drawingml/2006/main">
              <a:ext uri="{FF2B5EF4-FFF2-40B4-BE49-F238E27FC236}">
                <a16:creationId xmlns:a16="http://schemas.microsoft.com/office/drawing/2014/main" id="{6A0DF676-E0C5-4B48-B28B-0EAE80F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1435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74F1908-10F0-4D82-BD51-D8815236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USER-OWNED · PRIVATE BY DEFAULT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35C4BF0-8BFF-4249-94E4-BD64CA80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长期事实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963A45C-8B8D-4208-9DA3-3923B86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资料 · 关系 · 目标 · 计划 · 判断 · 经历 · 证据 · 成果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347EF20-EA2C-4655-BF67-8DECB96B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属于用户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不随模型、Agent 或会话更换而丢失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94E25DDA-DE86-47FB-ABC9-9181F02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76550"/>
            <a:ext cx="55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0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2850" b="0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publish-zone">
            <a:extLst xmlns:a="http://schemas.openxmlformats.org/drawingml/2006/main">
              <a:ext uri="{FF2B5EF4-FFF2-40B4-BE49-F238E27FC236}">
                <a16:creationId xmlns:a16="http://schemas.microsoft.com/office/drawing/2014/main" id="{2C906D7E-0EC6-4A61-BFDE-7A9FBEFE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5435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6657F7"/>
            </a:solidFill>
            <a:prstDash val="solid"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F6F58196-0A58-4436-B6F9-3E22633E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OPEN RUNTIME · EXTENSIBLE ECOSYSTEM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D8757B2D-CDFA-46D3-BF94-066FD8CB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可复用能力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E6024A76-15BF-4A28-A8BD-84253717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Apps · Task Packs · Skills · Workflows · Connectors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9F2A1A72-EDE5-4D0A-8045-4CAC8CE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独立开源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第三方 App 可部署、组合与扩展</a:t>
            </a:r>
          </a:p>
        </p:txBody>
      </p:sp>
      <p:cxnSp>
        <p:nvCxnSpPr>
          <p:cNvPr id="133" name="line-16"/>
          <p:cNvCxnSpPr/>
          <p:nvPr/>
        </p:nvCxnSpPr>
        <p:spPr>
          <a:xfrm xmlns:a="http://schemas.openxmlformats.org/drawingml/2006/main">
            <a:off x="400050" y="523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4B38887E-8335-4AFD-A2CC-D6DD48F4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 / OPC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B553C6B8-64C7-4DF4-B046-F462F4A7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App 创作者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5642DC17-5393-4359-BFD5-FB7EA1A7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JoyhouseBot OSS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49C2FFD2-3E49-4EDF-B9CB-E71D07F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 Market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F9BE83DF-40F8-4D07-AD96-DD9084A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054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Cloud 服务</a:t>
            </a:r>
          </a:p>
        </p:txBody>
      </p:sp>
    </p:spTree>
    <p:extLst>
      <p:ext uri="{BB962C8B-B14F-4D97-AF65-F5344CB8AC3E}">
        <p14:creationId xmlns:p14="http://schemas.microsoft.com/office/powerpoint/2010/main" val="16614837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047FFCE0-069E-4787-83B8-29BAA0F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GO-TO-MARKET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03FB5E-64C7-4B85-B9A2-7C36F46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从可归因的商业结果切入，再扩展职业与人生成长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AD3A211-39E5-4C8C-A57E-0375BE47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BAB42F-B50F-4F8F-96E8-5023D24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cxnSp>
        <p:nvCxnSpPr>
          <p:cNvPr id="59" name="line-5"/>
          <p:cNvCxnSpPr/>
          <p:nvPr/>
        </p:nvCxnSpPr>
        <p:spPr>
          <a:xfrm xmlns:a="http://schemas.openxmlformats.org/drawingml/2006/main">
            <a:off x="857250" y="27051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cxnSp>
      <p:sp>
        <p:nvSpPr>
          <p:cNvPr id="6" name="phase-dot-0">
            <a:extLst xmlns:a="http://schemas.openxmlformats.org/drawingml/2006/main">
              <a:ext uri="{FF2B5EF4-FFF2-40B4-BE49-F238E27FC236}">
                <a16:creationId xmlns:a16="http://schemas.microsoft.com/office/drawing/2014/main" id="{7D8B9F82-60EC-4E6C-802C-E885B5F7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AAF39E5-F483-481E-8812-C61237F0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入口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4FCF908-F54B-454D-8FF3-12ECB8CA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Extension + Desktop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136A304B-BAEC-4F12-8DF2-0F05F9C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记录现实、连接资料与已有工具</a:t>
            </a:r>
          </a:p>
        </p:txBody>
      </p:sp>
      <p:sp>
        <p:nvSpPr>
          <p:cNvPr id="10" name="phase-dot-1">
            <a:extLst xmlns:a="http://schemas.openxmlformats.org/drawingml/2006/main">
              <a:ext uri="{FF2B5EF4-FFF2-40B4-BE49-F238E27FC236}">
                <a16:creationId xmlns:a16="http://schemas.microsoft.com/office/drawing/2014/main" id="{F7C29626-60A1-4B11-8706-DB1F557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32CCFC4-CBE3-4D6E-B713-FAEA366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闭环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FC73F94-71B9-4932-BD2A-B1864E9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Market Opportunity Radar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9CE30E03-3009-49D4-8718-E123AD22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信号 → 机会 → 行动 → 结果 → 复盘</a:t>
            </a:r>
          </a:p>
        </p:txBody>
      </p:sp>
      <p:sp>
        <p:nvSpPr>
          <p:cNvPr id="14" name="phase-dot-2">
            <a:extLst xmlns:a="http://schemas.openxmlformats.org/drawingml/2006/main">
              <a:ext uri="{FF2B5EF4-FFF2-40B4-BE49-F238E27FC236}">
                <a16:creationId xmlns:a16="http://schemas.microsoft.com/office/drawing/2014/main" id="{0F785343-9CD4-4CD3-9228-0C8929CD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812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A77EB1D1-FD1C-4FE6-8918-E91CAA80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扩张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54354162-6289-439C-8FC5-BA601778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Growth Apps + Market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812C9E4B-E7A2-45B8-A15A-1D4F6FC3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内容、客户、职业与个人解决方案</a:t>
            </a:r>
          </a:p>
        </p:txBody>
      </p:sp>
      <p:sp>
        <p:nvSpPr>
          <p:cNvPr id="18" name="market-band">
            <a:extLst xmlns:a="http://schemas.openxmlformats.org/drawingml/2006/main">
              <a:ext uri="{FF2B5EF4-FFF2-40B4-BE49-F238E27FC236}">
                <a16:creationId xmlns:a16="http://schemas.microsoft.com/office/drawing/2014/main" id="{B23098FB-72AE-42D0-850C-D88FC77C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FD7823EB-9630-4659-9D49-E8AF7A26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1.27 亿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88BBEFB9-3680-4655-8DB7-6FDBCFCC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中国个体工商户（2025 年 5 月）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4AF6F625-115C-4CD1-99F5-40D2E81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958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6348.7 万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B0AD3124-7DA0-4E78-A951-65AE9F7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006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登记在册中小企业（2025 年 9 月）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36C210FF-84A6-4DC5-A3E2-A3FA539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96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邻近扩张空间</a:t>
            </a:r>
          </a:p>
          <a:p xmlns:a="http://schemas.openxmlformats.org/drawingml/2006/main">
            <a:pPr algn="r">
              <a:buNone/>
              <a:defRPr sz="1275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不是首期 TAM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1571A3C9-84E4-4258-A173-8DF326AA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首期用户：信息密集、跨工具、对持续执行和数据所有权有强需求的 OPC 与知识工作者。</a:t>
            </a:r>
          </a:p>
        </p:txBody>
      </p:sp>
    </p:spTree>
    <p:extLst>
      <p:ext uri="{BB962C8B-B14F-4D97-AF65-F5344CB8AC3E}">
        <p14:creationId xmlns:p14="http://schemas.microsoft.com/office/powerpoint/2010/main" val="11485924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">
            <a:extLst xmlns:a="http://schemas.openxmlformats.org/drawingml/2006/main">
              <a:ext uri="{FF2B5EF4-FFF2-40B4-BE49-F238E27FC236}">
                <a16:creationId xmlns:a16="http://schemas.microsoft.com/office/drawing/2014/main" id="{382792E8-3C96-4D5B-8C93-CE0A8171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BUSINESS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58F1D9-D7DB-498F-8CE8-EF64BCE8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Runtime 开源，商业化发生在产品、App、Cloud 与 Market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6C99601-FB3D-4D86-B5EF-D1CC863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6DCC0E-3338-443A-A851-2180518D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model-0">
            <a:extLst xmlns:a="http://schemas.openxmlformats.org/drawingml/2006/main">
              <a:ext uri="{FF2B5EF4-FFF2-40B4-BE49-F238E27FC236}">
                <a16:creationId xmlns:a16="http://schemas.microsoft.com/office/drawing/2014/main" id="{955521E1-375E-4C38-80D1-6B27BBE0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62350" cy="37719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6657F7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DA51018-2507-4FE6-AA0F-FA0100C8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7E8F293-377A-4CD1-BE9D-98DB146C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JoyHouse Pro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8916C1A-95A0-4EFE-A01F-47552CE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个人 / OPC 订阅</a:t>
            </a:r>
          </a:p>
        </p:txBody>
      </p:sp>
      <p:cxnSp>
        <p:nvCxnSpPr>
          <p:cNvPr id="173" name="line-9"/>
          <p:cNvCxnSpPr/>
          <p:nvPr/>
        </p:nvCxnSpPr>
        <p:spPr>
          <a:xfrm xmlns:a="http://schemas.openxmlformats.org/drawingml/2006/main">
            <a:off x="666750" y="35433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A5E802BA-D916-46FC-AD2C-C846ABBD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跨端同步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长期数据与复盘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高级产品体验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802EC85E-5449-4DAC-9545-6D42F067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先验证四周经营闭环留存</a:t>
            </a:r>
          </a:p>
        </p:txBody>
      </p:sp>
      <p:sp>
        <p:nvSpPr>
          <p:cNvPr id="12" name="model-1">
            <a:extLst xmlns:a="http://schemas.openxmlformats.org/drawingml/2006/main">
              <a:ext uri="{FF2B5EF4-FFF2-40B4-BE49-F238E27FC236}">
                <a16:creationId xmlns:a16="http://schemas.microsoft.com/office/drawing/2014/main" id="{8B31FB2C-4EB2-419F-90B7-130CFB5B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3562350" cy="37719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6B65E4D9-5CC9-466D-99E8-81308CB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71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E5A4023-D39E-4E41-A7AD-4BBBF24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Apps + Task Packs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7E5B5AD-64B7-4BE4-8209-17305B5C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3847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完整领域解决方案</a:t>
            </a:r>
          </a:p>
        </p:txBody>
      </p:sp>
      <p:cxnSp>
        <p:nvCxnSpPr>
          <p:cNvPr id="180" name="line-16"/>
          <p:cNvCxnSpPr/>
          <p:nvPr/>
        </p:nvCxnSpPr>
        <p:spPr>
          <a:xfrm xmlns:a="http://schemas.openxmlformats.org/drawingml/2006/main">
            <a:off x="4572000" y="35433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D0A542A8-5E00-4734-AF7F-F87584A2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0047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机会研究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内容 / 职业 / 成长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专业持续机制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B2368460-E364-4B18-887C-C61F731A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官方 App 收费 · 创作者分成</a:t>
            </a:r>
          </a:p>
        </p:txBody>
      </p:sp>
      <p:sp>
        <p:nvSpPr>
          <p:cNvPr id="19" name="model-2">
            <a:extLst xmlns:a="http://schemas.openxmlformats.org/drawingml/2006/main">
              <a:ext uri="{FF2B5EF4-FFF2-40B4-BE49-F238E27FC236}">
                <a16:creationId xmlns:a16="http://schemas.microsoft.com/office/drawing/2014/main" id="{063F58DF-7319-4254-9114-2CC270AC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3562350" cy="37719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8B9C8DFB-9348-48C9-820F-6299F8E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9BE6389D-CEB3-4C30-A553-72BB94AA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Cloud + Market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275AD966-277C-4B66-AF62-38F4B397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托管服务 / 生态分发</a:t>
            </a:r>
          </a:p>
        </p:txBody>
      </p:sp>
      <p:cxnSp>
        <p:nvCxnSpPr>
          <p:cNvPr id="187" name="line-23"/>
          <p:cNvCxnSpPr/>
          <p:nvPr/>
        </p:nvCxnSpPr>
        <p:spPr>
          <a:xfrm xmlns:a="http://schemas.openxmlformats.org/drawingml/2006/main">
            <a:off x="8477250" y="3543300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51CB594C-CE0C-4F7E-8D75-F125EAFB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00475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托管 Runtime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加密同步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交易、授权与更新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8102C77A-A526-4A94-B3A3-661631D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开源内核扩大采用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0C74B110-A34E-4B8C-9A74-1B8E76FC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开源扩大执行生态；长期价值由用户状态、产品体验、App 与服务共同形成。</a:t>
            </a:r>
          </a:p>
        </p:txBody>
      </p:sp>
    </p:spTree>
    <p:extLst>
      <p:ext uri="{BB962C8B-B14F-4D97-AF65-F5344CB8AC3E}">
        <p14:creationId xmlns:p14="http://schemas.microsoft.com/office/powerpoint/2010/main" val="560226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73BFF2E3-F075-46D4-980A-21ACC39F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13C063-5EC1-420E-A27B-D1E40047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191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开源 Runtime 已具备，产品层正在补齐长期事实与双循环</a:t>
            </a:r>
          </a:p>
        </p:txBody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522053D-C1D0-4DF5-ACE0-4DFBC3C6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JOYHOUSE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6A9CEA-F791-458E-8656-3CD10CE1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3A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search-ui-back">
            <a:extLst xmlns:a="http://schemas.openxmlformats.org/drawingml/2006/main">
              <a:ext uri="{FF2B5EF4-FFF2-40B4-BE49-F238E27FC236}">
                <a16:creationId xmlns:a16="http://schemas.microsoft.com/office/drawing/2014/main" id="{E8918D15-D2C9-4AA0-B4A7-B13ABC4E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5381625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94b12867949de"/>
          <a:srcRect xmlns:a="http://schemas.openxmlformats.org/drawingml/2006/main" l="0" t="6111" r="0" b="6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00200"/>
            <a:ext cx="5381625" cy="2905125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7" name="replay-ui-back">
            <a:extLst xmlns:a="http://schemas.openxmlformats.org/drawingml/2006/main">
              <a:ext uri="{FF2B5EF4-FFF2-40B4-BE49-F238E27FC236}">
                <a16:creationId xmlns:a16="http://schemas.microsoft.com/office/drawing/2014/main" id="{745AEF3B-C91D-49A6-8917-4F6B1CCB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582930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d8c7c876940ec"/>
          <a:srcRect xmlns:a="http://schemas.openxmlformats.org/drawingml/2006/main" l="0" t="10155" r="0" b="10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600200"/>
            <a:ext cx="5829300" cy="2905125"/>
          </a:xfrm>
          <a:prstGeom xmlns:a="http://schemas.openxmlformats.org/drawingml/2006/main" prst="roundRect">
            <a:avLst>
              <a:gd name="adj" fmla="val 3934"/>
            </a:avLst>
          </a:prstGeom>
        </p:spPr>
      </p:pic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ED70AAC-97E8-428F-B9DA-A1A9400A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场景执行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A2C3C02-590A-4BC6-89D2-FA3C07D0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29150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统一 Run / Task / Event / Trace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6B275335-440D-448E-896D-5380F1AE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恢复与治理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0342FA3-037C-4729-9B44-FEF97666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392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Lease · Approval · Replay · Evidence</a:t>
            </a:r>
          </a:p>
        </p:txBody>
      </p:sp>
      <p:cxnSp>
        <p:nvCxnSpPr>
          <p:cNvPr id="120" name="line-11"/>
          <p:cNvCxnSpPr/>
          <p:nvPr/>
        </p:nvCxnSpPr>
        <p:spPr>
          <a:xfrm xmlns:a="http://schemas.openxmlformats.org/drawingml/2006/main">
            <a:off x="400050" y="51435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cxn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8EC64FD2-B9A1-4308-A6EC-0178C97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A97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FA971"/>
                </a:solidFill>
                <a:latin typeface="PingFang SC"/>
                <a:ea typeface="PingFang SC"/>
                <a:cs typeface="PingFang SC"/>
              </a:rPr>
              <a:t>Runtime 已有</a:t>
            </a:r>
          </a:p>
        </p:txBody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94E6EC18-7A15-41AA-80FC-6D29E6E6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开源 · PG-first · Schedule / Approval · Artifact / Work</a:t>
            </a:r>
          </a:p>
        </p:txBody>
      </p:sp>
      <p:sp>
        <p:nvSpPr>
          <p:cNvPr id="16" name="text-14">
            <a:extLst xmlns:a="http://schemas.openxmlformats.org/drawingml/2006/main">
              <a:ext uri="{FF2B5EF4-FFF2-40B4-BE49-F238E27FC236}">
                <a16:creationId xmlns:a16="http://schemas.microsoft.com/office/drawing/2014/main" id="{6D83CFEB-C83F-4941-AA82-5E80F8CA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产品在建</a:t>
            </a:r>
          </a:p>
        </p:txBody>
      </p:sp>
      <p:sp>
        <p:nvSpPr>
          <p:cNvPr id="17" name="text-15">
            <a:extLst xmlns:a="http://schemas.openxmlformats.org/drawingml/2006/main">
              <a:ext uri="{FF2B5EF4-FFF2-40B4-BE49-F238E27FC236}">
                <a16:creationId xmlns:a16="http://schemas.microsoft.com/office/drawing/2014/main" id="{4D657CC2-33EF-4CD0-BFC6-FD076E5D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816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Source / Goal / Plan / Action / Metric / Review</a:t>
            </a:r>
          </a:p>
        </p:txBody>
      </p:sp>
    </p:spTree>
    <p:extLst>
      <p:ext uri="{BB962C8B-B14F-4D97-AF65-F5344CB8AC3E}">
        <p14:creationId xmlns:p14="http://schemas.microsoft.com/office/powerpoint/2010/main" val="8803609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A8D5BDC6-0234-472E-8D95-BE86EEE6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JOYHOUSE · NEXT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82968EE-DA07-4F0D-8EC1-39507429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让一个人，也能拥有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持续进化的事业与人生系统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C633F28-21CE-4F4A-B1BC-56588C6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本轮资金完成一个明确跃迁：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78EBE2C-1F26-4C20-8F4D-EF0B43C9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7F7"/>
                </a:solidFill>
                <a:latin typeface="PingFang SC"/>
                <a:ea typeface="PingFang SC"/>
                <a:cs typeface="PingFang SC"/>
              </a:rPr>
              <a:t>01  JoyHouse 产品层：今天 / 事业 / 书房 / 成长 / 成果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D4BBB3F-8146-4059-A340-992E7E34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053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02  双黄金路径：事业增长循环 + 人生成长循环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BA32C80-931D-4BCF-9F2D-A8573623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03  首个真实 App：Market Opportunity Radar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69BD13D-DB84-4145-9B53-1D3E63B6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97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04  开源 Runtime + Cloud / Market 生态闭环</a:t>
            </a:r>
          </a:p>
        </p:txBody>
      </p:sp>
      <p:sp>
        <p:nvSpPr>
          <p:cNvPr id="8" name="hardware-concept-back">
            <a:extLst xmlns:a="http://schemas.openxmlformats.org/drawingml/2006/main">
              <a:ext uri="{FF2B5EF4-FFF2-40B4-BE49-F238E27FC236}">
                <a16:creationId xmlns:a16="http://schemas.microsoft.com/office/drawing/2014/main" id="{A244E3DD-40C6-4E53-9862-5B669B14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19150"/>
            <a:ext cx="3333750" cy="47625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bc82690e545ea"/>
          <a:srcRect xmlns:a="http://schemas.openxmlformats.org/drawingml/2006/main" l="0" t="2381" r="0" b="2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8200" y="819150"/>
            <a:ext cx="3333750" cy="476250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12B5C33-A750-4710-A1ED-287189AD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81025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未来：把同一套数据与执行系统延伸到物理世界</a:t>
            </a:r>
          </a:p>
        </p:txBody>
      </p:sp>
      <p:sp>
        <p:nvSpPr>
          <p:cNvPr id="11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59EF2E06-6621-41F6-B07A-20946E57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7F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4821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2026-08-12T02:28:56.4430000Z</dcterms:created>
  <dcterms:modified xsi:type="dcterms:W3CDTF">2026-08-12T02:28:56.4430000Z</dcterms:modified>
</coreProperties>
</file>